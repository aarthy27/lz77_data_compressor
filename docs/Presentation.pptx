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69" r:id="rId4"/>
    <p:sldId id="260" r:id="rId5"/>
    <p:sldId id="270" r:id="rId6"/>
    <p:sldId id="272" r:id="rId7"/>
    <p:sldId id="262" r:id="rId8"/>
    <p:sldId id="273" r:id="rId9"/>
    <p:sldId id="276" r:id="rId10"/>
    <p:sldId id="280" r:id="rId11"/>
    <p:sldId id="286" r:id="rId12"/>
    <p:sldId id="287" r:id="rId13"/>
    <p:sldId id="288" r:id="rId14"/>
    <p:sldId id="285" r:id="rId15"/>
    <p:sldId id="289" r:id="rId16"/>
    <p:sldId id="292" r:id="rId17"/>
    <p:sldId id="293" r:id="rId18"/>
    <p:sldId id="290" r:id="rId19"/>
    <p:sldId id="294" r:id="rId20"/>
    <p:sldId id="296" r:id="rId21"/>
    <p:sldId id="291" r:id="rId22"/>
    <p:sldId id="279" r:id="rId23"/>
    <p:sldId id="2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773" autoAdjust="0"/>
    <p:restoredTop sz="93741" autoAdjust="0"/>
  </p:normalViewPr>
  <p:slideViewPr>
    <p:cSldViewPr snapToGrid="0">
      <p:cViewPr varScale="1">
        <p:scale>
          <a:sx n="62" d="100"/>
          <a:sy n="62" d="100"/>
        </p:scale>
        <p:origin x="224" y="44"/>
      </p:cViewPr>
      <p:guideLst>
        <p:guide orient="horz" pos="2183"/>
        <p:guide pos="3840"/>
      </p:guideLst>
    </p:cSldViewPr>
  </p:slideViewPr>
  <p:outlineViewPr>
    <p:cViewPr>
      <p:scale>
        <a:sx n="33" d="100"/>
        <a:sy n="33" d="100"/>
      </p:scale>
      <p:origin x="0" y="-976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esktop\Graph.xlsx" TargetMode="External"/><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Desktop\Graph.xlsx" TargetMode="External"/><Relationship Id="rId2" Type="http://schemas.microsoft.com/office/2011/relationships/chartColorStyle" Target="colors3.xml"/><Relationship Id="rId1" Type="http://schemas.microsoft.com/office/2011/relationships/chartStyle" Target="style3.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Admin\Desktop\Graph.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1776118191411641E-2"/>
          <c:y val="0.17045036764705881"/>
          <c:w val="0.87468944592935061"/>
          <c:h val="0.72293994615562762"/>
        </c:manualLayout>
      </c:layout>
      <c:lineChart>
        <c:grouping val="standard"/>
        <c:varyColors val="0"/>
        <c:ser>
          <c:idx val="0"/>
          <c:order val="0"/>
          <c:tx>
            <c:strRef>
              <c:f>Sheet1!$I$15</c:f>
              <c:strCache>
                <c:ptCount val="1"/>
                <c:pt idx="0">
                  <c:v>Compression Gain (%)</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Sheet1!$H$16:$H$22</c:f>
              <c:strCache>
                <c:ptCount val="7"/>
                <c:pt idx="0">
                  <c:v> Input 1</c:v>
                </c:pt>
                <c:pt idx="1">
                  <c:v> Input 2</c:v>
                </c:pt>
                <c:pt idx="2">
                  <c:v>Input  3</c:v>
                </c:pt>
                <c:pt idx="3">
                  <c:v>Input  4</c:v>
                </c:pt>
                <c:pt idx="4">
                  <c:v>Input  5</c:v>
                </c:pt>
                <c:pt idx="5">
                  <c:v>Input  6</c:v>
                </c:pt>
                <c:pt idx="6">
                  <c:v>Input  7</c:v>
                </c:pt>
              </c:strCache>
            </c:strRef>
          </c:cat>
          <c:val>
            <c:numRef>
              <c:f>Sheet1!$I$16:$I$22</c:f>
              <c:numCache>
                <c:formatCode>General</c:formatCode>
                <c:ptCount val="7"/>
                <c:pt idx="0">
                  <c:v>18.329999999999998</c:v>
                </c:pt>
                <c:pt idx="1">
                  <c:v>0</c:v>
                </c:pt>
                <c:pt idx="2">
                  <c:v>12.5</c:v>
                </c:pt>
                <c:pt idx="3">
                  <c:v>51</c:v>
                </c:pt>
                <c:pt idx="4">
                  <c:v>65</c:v>
                </c:pt>
                <c:pt idx="5">
                  <c:v>62.5</c:v>
                </c:pt>
                <c:pt idx="6">
                  <c:v>48.15</c:v>
                </c:pt>
              </c:numCache>
            </c:numRef>
          </c:val>
          <c:smooth val="0"/>
          <c:extLst>
            <c:ext xmlns:c16="http://schemas.microsoft.com/office/drawing/2014/chart" uri="{C3380CC4-5D6E-409C-BE32-E72D297353CC}">
              <c16:uniqueId val="{00000000-DECA-41B5-852B-459511951105}"/>
            </c:ext>
          </c:extLst>
        </c:ser>
        <c:dLbls>
          <c:dLblPos val="t"/>
          <c:showLegendKey val="0"/>
          <c:showVal val="1"/>
          <c:showCatName val="0"/>
          <c:showSerName val="0"/>
          <c:showPercent val="0"/>
          <c:showBubbleSize val="0"/>
        </c:dLbls>
        <c:smooth val="0"/>
        <c:axId val="584085544"/>
        <c:axId val="584085184"/>
      </c:lineChart>
      <c:catAx>
        <c:axId val="584085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584085184"/>
        <c:crosses val="autoZero"/>
        <c:auto val="1"/>
        <c:lblAlgn val="ctr"/>
        <c:lblOffset val="100"/>
        <c:noMultiLvlLbl val="0"/>
      </c:catAx>
      <c:valAx>
        <c:axId val="5840851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5840855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IN" b="1"/>
              <a:t>Cycles  &amp; Throughput</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621843324286723E-2"/>
          <c:y val="0.17665069944847955"/>
          <c:w val="0.85946942507403212"/>
          <c:h val="0.70397880680983738"/>
        </c:manualLayout>
      </c:layout>
      <c:barChart>
        <c:barDir val="col"/>
        <c:grouping val="clustered"/>
        <c:varyColors val="0"/>
        <c:ser>
          <c:idx val="0"/>
          <c:order val="0"/>
          <c:tx>
            <c:strRef>
              <c:f>Sheet1!$D$3</c:f>
              <c:strCache>
                <c:ptCount val="1"/>
                <c:pt idx="0">
                  <c:v>Cycles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Sheet1!$C$4:$C$10</c:f>
              <c:strCache>
                <c:ptCount val="7"/>
                <c:pt idx="0">
                  <c:v> Input 1</c:v>
                </c:pt>
                <c:pt idx="1">
                  <c:v> Input 2</c:v>
                </c:pt>
                <c:pt idx="2">
                  <c:v>Input  3</c:v>
                </c:pt>
                <c:pt idx="3">
                  <c:v>Input  4</c:v>
                </c:pt>
                <c:pt idx="4">
                  <c:v>Input  5</c:v>
                </c:pt>
                <c:pt idx="5">
                  <c:v>Input  6</c:v>
                </c:pt>
                <c:pt idx="6">
                  <c:v>Input  7</c:v>
                </c:pt>
              </c:strCache>
            </c:strRef>
          </c:cat>
          <c:val>
            <c:numRef>
              <c:f>Sheet1!$D$4:$D$10</c:f>
              <c:numCache>
                <c:formatCode>General</c:formatCode>
                <c:ptCount val="7"/>
                <c:pt idx="0">
                  <c:v>63</c:v>
                </c:pt>
                <c:pt idx="1">
                  <c:v>82</c:v>
                </c:pt>
                <c:pt idx="2">
                  <c:v>59</c:v>
                </c:pt>
                <c:pt idx="3">
                  <c:v>48</c:v>
                </c:pt>
                <c:pt idx="4">
                  <c:v>50</c:v>
                </c:pt>
                <c:pt idx="5">
                  <c:v>48</c:v>
                </c:pt>
                <c:pt idx="6">
                  <c:v>54</c:v>
                </c:pt>
              </c:numCache>
            </c:numRef>
          </c:val>
          <c:extLst>
            <c:ext xmlns:c16="http://schemas.microsoft.com/office/drawing/2014/chart" uri="{C3380CC4-5D6E-409C-BE32-E72D297353CC}">
              <c16:uniqueId val="{00000000-BC61-46A7-BF81-ED4D5055DFB8}"/>
            </c:ext>
          </c:extLst>
        </c:ser>
        <c:ser>
          <c:idx val="1"/>
          <c:order val="1"/>
          <c:tx>
            <c:strRef>
              <c:f>Sheet1!$E$3</c:f>
              <c:strCache>
                <c:ptCount val="1"/>
                <c:pt idx="0">
                  <c:v>Throughput (Bytes/cycle)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Sheet1!$C$4:$C$10</c:f>
              <c:strCache>
                <c:ptCount val="7"/>
                <c:pt idx="0">
                  <c:v> Input 1</c:v>
                </c:pt>
                <c:pt idx="1">
                  <c:v> Input 2</c:v>
                </c:pt>
                <c:pt idx="2">
                  <c:v>Input  3</c:v>
                </c:pt>
                <c:pt idx="3">
                  <c:v>Input  4</c:v>
                </c:pt>
                <c:pt idx="4">
                  <c:v>Input  5</c:v>
                </c:pt>
                <c:pt idx="5">
                  <c:v>Input  6</c:v>
                </c:pt>
                <c:pt idx="6">
                  <c:v>Input  7</c:v>
                </c:pt>
              </c:strCache>
            </c:strRef>
          </c:cat>
          <c:val>
            <c:numRef>
              <c:f>Sheet1!$E$4:$E$10</c:f>
              <c:numCache>
                <c:formatCode>General</c:formatCode>
                <c:ptCount val="7"/>
                <c:pt idx="0">
                  <c:v>3.81</c:v>
                </c:pt>
                <c:pt idx="1">
                  <c:v>2.93</c:v>
                </c:pt>
                <c:pt idx="2">
                  <c:v>3.25</c:v>
                </c:pt>
                <c:pt idx="3">
                  <c:v>4.17</c:v>
                </c:pt>
                <c:pt idx="4">
                  <c:v>4.8</c:v>
                </c:pt>
                <c:pt idx="5">
                  <c:v>4.67</c:v>
                </c:pt>
                <c:pt idx="6">
                  <c:v>4</c:v>
                </c:pt>
              </c:numCache>
            </c:numRef>
          </c:val>
          <c:extLst>
            <c:ext xmlns:c16="http://schemas.microsoft.com/office/drawing/2014/chart" uri="{C3380CC4-5D6E-409C-BE32-E72D297353CC}">
              <c16:uniqueId val="{00000001-BC61-46A7-BF81-ED4D5055DFB8}"/>
            </c:ext>
          </c:extLst>
        </c:ser>
        <c:dLbls>
          <c:showLegendKey val="0"/>
          <c:showVal val="0"/>
          <c:showCatName val="0"/>
          <c:showSerName val="0"/>
          <c:showPercent val="0"/>
          <c:showBubbleSize val="0"/>
        </c:dLbls>
        <c:gapWidth val="219"/>
        <c:overlap val="-27"/>
        <c:axId val="598923664"/>
        <c:axId val="598921144"/>
      </c:barChart>
      <c:catAx>
        <c:axId val="59892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598921144"/>
        <c:crosses val="autoZero"/>
        <c:auto val="1"/>
        <c:lblAlgn val="ctr"/>
        <c:lblOffset val="100"/>
        <c:noMultiLvlLbl val="0"/>
      </c:catAx>
      <c:valAx>
        <c:axId val="5989211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598923664"/>
        <c:crosses val="autoZero"/>
        <c:crossBetween val="between"/>
      </c:valAx>
      <c:spPr>
        <a:noFill/>
        <a:ln>
          <a:noFill/>
        </a:ln>
        <a:effectLst/>
      </c:spPr>
    </c:plotArea>
    <c:legend>
      <c:legendPos val="b"/>
      <c:layout>
        <c:manualLayout>
          <c:xMode val="edge"/>
          <c:yMode val="edge"/>
          <c:x val="0.53119791726726795"/>
          <c:y val="0.18938816306696743"/>
          <c:w val="0.3554191818436499"/>
          <c:h val="7.0556606867017216E-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Sheet1!$C$16:$C$22</cx:f>
        <cx:lvl ptCount="7">
          <cx:pt idx="0"> Input 1</cx:pt>
          <cx:pt idx="1"> Input 2</cx:pt>
          <cx:pt idx="2">Input  3</cx:pt>
          <cx:pt idx="3">Input  4</cx:pt>
          <cx:pt idx="4">Input  5</cx:pt>
          <cx:pt idx="5">Input  6</cx:pt>
          <cx:pt idx="6">Input  7</cx:pt>
        </cx:lvl>
      </cx:strDim>
      <cx:numDim type="val">
        <cx:f>Sheet1!$D$16:$D$22</cx:f>
        <cx:lvl ptCount="7" formatCode="General">
          <cx:pt idx="0">1.224</cx:pt>
          <cx:pt idx="1">0.71399999999999997</cx:pt>
          <cx:pt idx="2">1.143</cx:pt>
          <cx:pt idx="3">2.0409999999999999</cx:pt>
          <cx:pt idx="4">2.8570000000000002</cx:pt>
          <cx:pt idx="5">2.6669999999999998</cx:pt>
          <cx:pt idx="6">1.929</cx:pt>
        </cx:lvl>
      </cx:numDim>
    </cx:data>
  </cx:chartData>
  <cx:chart>
    <cx:title pos="t" align="ctr" overlay="0">
      <cx:tx>
        <cx:txData>
          <cx:v>Compression Ratio</cx:v>
        </cx:txData>
      </cx:tx>
      <cx:txPr>
        <a:bodyPr spcFirstLastPara="1" vertOverflow="ellipsis" horzOverflow="overflow" wrap="square" lIns="0" tIns="0" rIns="0" bIns="0" anchor="ctr" anchorCtr="1"/>
        <a:lstStyle/>
        <a:p>
          <a:pPr algn="ctr" rtl="0">
            <a:defRPr b="1"/>
          </a:pPr>
          <a:r>
            <a:rPr lang="en-US" sz="1400" b="1" i="0" u="none" strike="noStrike" baseline="0">
              <a:solidFill>
                <a:sysClr val="windowText" lastClr="000000">
                  <a:lumMod val="65000"/>
                  <a:lumOff val="35000"/>
                </a:sysClr>
              </a:solidFill>
              <a:latin typeface="Calibri" panose="020F0502020204030204"/>
            </a:rPr>
            <a:t>Compression Ratio</a:t>
          </a:r>
        </a:p>
      </cx:txPr>
    </cx:title>
    <cx:plotArea>
      <cx:plotAreaRegion>
        <cx:series layoutId="clusteredColumn" uniqueId="{D16FC3FF-E312-4B26-8659-C32CF90A2E1F}">
          <cx:tx>
            <cx:txData>
              <cx:f>Sheet1!$D$15</cx:f>
              <cx:v>Compression Ratio (CR)</cx:v>
            </cx:txData>
          </cx:tx>
          <cx:dataLabels pos="ctr">
            <cx:txPr>
              <a:bodyPr vertOverflow="overflow" horzOverflow="overflow" wrap="square" lIns="0" tIns="0" rIns="0" bIns="0"/>
              <a:lstStyle/>
              <a:p>
                <a:pPr algn="ctr" rtl="0">
                  <a:defRPr sz="900" b="1"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IN" b="1"/>
              </a:p>
            </cx:txPr>
            <cx:visibility seriesName="0" categoryName="0" value="1"/>
          </cx:dataLabels>
          <cx:dataId val="0"/>
          <cx:layoutPr>
            <cx:aggregation/>
          </cx:layoutPr>
          <cx:axisId val="1"/>
        </cx:series>
        <cx:series layoutId="paretoLine" ownerIdx="0" uniqueId="{B5294437-5672-402C-A18C-3898425483EC}">
          <cx:spPr>
            <a:ln>
              <a:solidFill>
                <a:schemeClr val="accent1">
                  <a:alpha val="0"/>
                </a:schemeClr>
              </a:solidFill>
            </a:ln>
          </cx:spPr>
          <cx:axisId val="2"/>
        </cx:series>
      </cx:plotAreaRegion>
      <cx:axis id="0">
        <cx:catScaling gapWidth="0"/>
        <cx:tickLabels/>
        <cx:txPr>
          <a:bodyPr spcFirstLastPara="1" vertOverflow="ellipsis" horzOverflow="overflow" wrap="square" lIns="0" tIns="0" rIns="0" bIns="0" anchor="ctr" anchorCtr="1"/>
          <a:lstStyle/>
          <a:p>
            <a:pPr algn="ctr" rtl="0">
              <a:defRPr sz="1000" b="1"/>
            </a:pPr>
            <a:endParaRPr lang="en-US" sz="1000" b="1" i="0" u="none" strike="noStrike" baseline="0">
              <a:solidFill>
                <a:sysClr val="windowText" lastClr="000000">
                  <a:lumMod val="65000"/>
                  <a:lumOff val="35000"/>
                </a:sysClr>
              </a:solidFill>
              <a:latin typeface="Calibri" panose="020F0502020204030204"/>
            </a:endParaRPr>
          </a:p>
        </cx:txPr>
      </cx:axis>
      <cx:axis id="1">
        <cx:valScaling/>
        <cx:tickLabels/>
        <cx:txPr>
          <a:bodyPr vertOverflow="overflow" horzOverflow="overflow" wrap="square" lIns="0" tIns="0" rIns="0" bIns="0"/>
          <a:lstStyle/>
          <a:p>
            <a:pPr algn="ctr" rtl="0">
              <a:defRPr sz="1000" b="1" i="0">
                <a:solidFill>
                  <a:srgbClr val="595959"/>
                </a:solidFill>
                <a:latin typeface="Calibri" panose="020F0502020204030204" pitchFamily="34" charset="0"/>
                <a:ea typeface="Calibri" panose="020F0502020204030204" pitchFamily="34" charset="0"/>
                <a:cs typeface="Calibri" panose="020F0502020204030204" pitchFamily="34" charset="0"/>
              </a:defRPr>
            </a:pPr>
            <a:endParaRPr lang="en-IN" sz="1000" b="1"/>
          </a:p>
        </cx:txPr>
      </cx:axis>
      <cx:axis id="2">
        <cx:valScaling max="1" min="0"/>
        <cx:units unit="percentage"/>
        <cx:tickLabels/>
        <cx:txPr>
          <a:bodyPr spcFirstLastPara="1" vertOverflow="ellipsis" horzOverflow="overflow" wrap="square" lIns="0" tIns="0" rIns="0" bIns="0" anchor="ctr" anchorCtr="1"/>
          <a:lstStyle/>
          <a:p>
            <a:pPr algn="ctr" rtl="0">
              <a:defRPr sz="1000" b="1"/>
            </a:pPr>
            <a:endParaRPr lang="en-US" sz="1000" b="1" i="0" u="none" strike="noStrike" baseline="0">
              <a:solidFill>
                <a:sysClr val="windowText" lastClr="000000">
                  <a:lumMod val="65000"/>
                  <a:lumOff val="35000"/>
                </a:sysClr>
              </a:solidFill>
              <a:latin typeface="Calibri" panose="020F0502020204030204"/>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1B3DB9-C37E-4B3F-A9E6-4F8D1F64E151}" type="datetimeFigureOut">
              <a:rPr lang="en-IN" smtClean="0"/>
              <a:t>21-01-2026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FC0D0-8DB1-4A1A-8E44-205A8271D7E5}" type="slidenum">
              <a:rPr lang="en-IN" smtClean="0"/>
              <a:t>‹#›</a:t>
            </a:fld>
            <a:endParaRPr lang="en-IN"/>
          </a:p>
        </p:txBody>
      </p:sp>
    </p:spTree>
    <p:extLst>
      <p:ext uri="{BB962C8B-B14F-4D97-AF65-F5344CB8AC3E}">
        <p14:creationId xmlns:p14="http://schemas.microsoft.com/office/powerpoint/2010/main" val="1424547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Experimental results on FPGA show that TF mode achieves about 11.39% higher throughput with only a 0.07 reduction in compression ratio compared to CF mode.</a:t>
            </a:r>
          </a:p>
          <a:p>
            <a:r>
              <a:rPr lang="en-US" sz="1200" dirty="0"/>
              <a:t>The compressor achieves a throughput of about 1.76 bytes per cycle in TF mode and 1.58 bytes per cycle in CF mode, with respective compression ratios of 2.48 and 2.55.</a:t>
            </a:r>
          </a:p>
          <a:p>
            <a:r>
              <a:rPr lang="en-US" sz="1200" dirty="0"/>
              <a:t>In essence, this design enables a hardware LZ77 compressor that can flexibly trade off between speed and data compression efficiency by adjusting how many substring comparisons it performs in parallel, adapting dynamically to system requirements without needing hardware changes.</a:t>
            </a:r>
          </a:p>
          <a:p>
            <a:endParaRPr lang="en-IN" dirty="0"/>
          </a:p>
        </p:txBody>
      </p:sp>
      <p:sp>
        <p:nvSpPr>
          <p:cNvPr id="4" name="Slide Number Placeholder 3"/>
          <p:cNvSpPr>
            <a:spLocks noGrp="1"/>
          </p:cNvSpPr>
          <p:nvPr>
            <p:ph type="sldNum" sz="quarter" idx="5"/>
          </p:nvPr>
        </p:nvSpPr>
        <p:spPr/>
        <p:txBody>
          <a:bodyPr/>
          <a:lstStyle/>
          <a:p>
            <a:fld id="{9DBFC0D0-8DB1-4A1A-8E44-205A8271D7E5}" type="slidenum">
              <a:rPr lang="en-IN" smtClean="0"/>
              <a:t>3</a:t>
            </a:fld>
            <a:endParaRPr lang="en-IN"/>
          </a:p>
        </p:txBody>
      </p:sp>
    </p:spTree>
    <p:extLst>
      <p:ext uri="{BB962C8B-B14F-4D97-AF65-F5344CB8AC3E}">
        <p14:creationId xmlns:p14="http://schemas.microsoft.com/office/powerpoint/2010/main" val="1005439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81890-BBE7-7B5A-8EE4-697EF92A0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92805-6A10-6F23-4E6B-BB126D38F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52408-DBBC-1ACA-4FD9-762DE8AC6C24}"/>
              </a:ext>
            </a:extLst>
          </p:cNvPr>
          <p:cNvSpPr>
            <a:spLocks noGrp="1"/>
          </p:cNvSpPr>
          <p:nvPr>
            <p:ph type="body" idx="1"/>
          </p:nvPr>
        </p:nvSpPr>
        <p:spPr/>
        <p:txBody>
          <a:bodyPr/>
          <a:lstStyle/>
          <a:p>
            <a:r>
              <a:rPr lang="en-US" sz="1200" dirty="0"/>
              <a:t>Experimental results on FPGA show that TF mode achieves about 11.39% higher throughput with only a 0.07 reduction in compression ratio compared to CF mode.</a:t>
            </a:r>
          </a:p>
          <a:p>
            <a:r>
              <a:rPr lang="en-US" sz="1200" dirty="0"/>
              <a:t>The compressor achieves a throughput of about 1.76 bytes per cycle in TF mode and 1.58 bytes per cycle in CF mode, with respective compression ratios of 2.48 and 2.55.</a:t>
            </a:r>
          </a:p>
          <a:p>
            <a:r>
              <a:rPr lang="en-US" sz="1200" dirty="0"/>
              <a:t>In essence, this design enables a hardware LZ77 compressor that can flexibly trade off between speed and data compression efficiency by adjusting how many substring comparisons it performs in parallel, adapting dynamically to system requirements without needing hardware changes.</a:t>
            </a:r>
          </a:p>
          <a:p>
            <a:endParaRPr lang="en-IN" dirty="0"/>
          </a:p>
        </p:txBody>
      </p:sp>
      <p:sp>
        <p:nvSpPr>
          <p:cNvPr id="4" name="Slide Number Placeholder 3">
            <a:extLst>
              <a:ext uri="{FF2B5EF4-FFF2-40B4-BE49-F238E27FC236}">
                <a16:creationId xmlns:a16="http://schemas.microsoft.com/office/drawing/2014/main" id="{E281FCF7-D37B-CCF4-8128-B5981868E39C}"/>
              </a:ext>
            </a:extLst>
          </p:cNvPr>
          <p:cNvSpPr>
            <a:spLocks noGrp="1"/>
          </p:cNvSpPr>
          <p:nvPr>
            <p:ph type="sldNum" sz="quarter" idx="5"/>
          </p:nvPr>
        </p:nvSpPr>
        <p:spPr/>
        <p:txBody>
          <a:bodyPr/>
          <a:lstStyle/>
          <a:p>
            <a:fld id="{9DBFC0D0-8DB1-4A1A-8E44-205A8271D7E5}" type="slidenum">
              <a:rPr lang="en-IN" smtClean="0"/>
              <a:t>6</a:t>
            </a:fld>
            <a:endParaRPr lang="en-IN"/>
          </a:p>
        </p:txBody>
      </p:sp>
    </p:spTree>
    <p:extLst>
      <p:ext uri="{BB962C8B-B14F-4D97-AF65-F5344CB8AC3E}">
        <p14:creationId xmlns:p14="http://schemas.microsoft.com/office/powerpoint/2010/main" val="3478304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7FD6-A918-1C31-FFDA-4231192A4DB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9B0DB5-B947-7886-B509-B688CD48A1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3FD26F3-3972-2CA2-3B00-AE4C7FCF8042}"/>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5" name="Footer Placeholder 4">
            <a:extLst>
              <a:ext uri="{FF2B5EF4-FFF2-40B4-BE49-F238E27FC236}">
                <a16:creationId xmlns:a16="http://schemas.microsoft.com/office/drawing/2014/main" id="{873CF0B8-B05E-0AE1-107C-01772DAB8A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49DD6-6DC7-EBDD-0731-F4A82AB72474}"/>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2711694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E99BB-4A54-CF48-2169-3803EC2DBB5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C3A897E-8575-9A2D-10D7-502D45805A2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D909B4-44DA-B3B4-8DEB-5ED0AD63DC89}"/>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5" name="Footer Placeholder 4">
            <a:extLst>
              <a:ext uri="{FF2B5EF4-FFF2-40B4-BE49-F238E27FC236}">
                <a16:creationId xmlns:a16="http://schemas.microsoft.com/office/drawing/2014/main" id="{AE39A4C1-01CF-C0CC-88E7-28529903D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94EDE-FD14-3918-9723-9C386122EAFA}"/>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4208169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AC240-DEB2-5628-7D03-FBB13234444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8E0F2F3-6A51-C70E-5089-02F0A73EDE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03AB08B-F24D-C71D-B893-FE6E36D2DDB8}"/>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5" name="Footer Placeholder 4">
            <a:extLst>
              <a:ext uri="{FF2B5EF4-FFF2-40B4-BE49-F238E27FC236}">
                <a16:creationId xmlns:a16="http://schemas.microsoft.com/office/drawing/2014/main" id="{A2C7221B-3E0E-393A-9B19-0FCB3FBE0B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FFDD1-CDEC-092E-6BE4-B5B1604E6CEC}"/>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56552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86423-0C86-EC70-35DB-CCFF57113D5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8E145D3-45A3-50DB-9CED-E0E56A99D5F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A0DB10-C632-DC8F-F1A4-1039235EC56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5DA5F58-E970-55AA-3D47-22FAC0E9CF56}"/>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6" name="Footer Placeholder 5">
            <a:extLst>
              <a:ext uri="{FF2B5EF4-FFF2-40B4-BE49-F238E27FC236}">
                <a16:creationId xmlns:a16="http://schemas.microsoft.com/office/drawing/2014/main" id="{7A4E5BC3-94B1-BED0-B0FF-A361471DFA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8F9AE3-E284-4390-58F6-48540EB62EFB}"/>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152935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B4C58-8D48-B16D-8C30-443967C1E00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5033AE-DB63-BB61-DBB4-166684D20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B3FA5C-1042-491C-9FA7-7D231E014F3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2D0870-C313-E8BD-ECC9-E67B5B087A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B5D598B-3EF8-4CF3-A89F-683080E4BF9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D6839BC-D618-F5CE-0882-7C7447AA1900}"/>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8" name="Footer Placeholder 7">
            <a:extLst>
              <a:ext uri="{FF2B5EF4-FFF2-40B4-BE49-F238E27FC236}">
                <a16:creationId xmlns:a16="http://schemas.microsoft.com/office/drawing/2014/main" id="{2EC2E45B-0F4D-9DEE-38C6-BF95217812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F9F444-B55F-6A1D-520E-09A78500F35C}"/>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3630507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EF392-91E8-CC46-6175-803572AD946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EC64B4C-8FC2-1BFA-76D5-FEEE899D65CA}"/>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4" name="Footer Placeholder 3">
            <a:extLst>
              <a:ext uri="{FF2B5EF4-FFF2-40B4-BE49-F238E27FC236}">
                <a16:creationId xmlns:a16="http://schemas.microsoft.com/office/drawing/2014/main" id="{50A09724-71EC-188E-5191-A5FF2E7A28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6AA7EE-5716-9424-CE3B-2B552E0C68C4}"/>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2069529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71349-6198-4270-3365-08BBEED7D5F8}"/>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3" name="Footer Placeholder 2">
            <a:extLst>
              <a:ext uri="{FF2B5EF4-FFF2-40B4-BE49-F238E27FC236}">
                <a16:creationId xmlns:a16="http://schemas.microsoft.com/office/drawing/2014/main" id="{4D669E25-13E6-50F3-024D-FCAC131B28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3B14C7-8354-93ED-F768-C93518C8AC54}"/>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239863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7109F-8F80-2478-9235-56CB8FEC91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DBF3DE8-EC65-A986-299D-C8BF56091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478EA6F-8665-A52D-A97D-03E8745F31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0964A8-8442-CCA3-BB44-B8F6DB1A8D80}"/>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6" name="Footer Placeholder 5">
            <a:extLst>
              <a:ext uri="{FF2B5EF4-FFF2-40B4-BE49-F238E27FC236}">
                <a16:creationId xmlns:a16="http://schemas.microsoft.com/office/drawing/2014/main" id="{63BEA1F2-2C61-BB69-F2D2-EB1C423322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9C4E7C-3C21-C8B7-3374-1A500E0463FF}"/>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466009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D786B-4CE7-54E3-A6FF-7BB5AF21954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29C1AE2-066C-4C56-0532-A628C9BB4F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C1F6E0-C028-DDF7-5100-03599BE3A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CBD4557-C44A-7C11-4463-881F5B3F363C}"/>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6" name="Footer Placeholder 5">
            <a:extLst>
              <a:ext uri="{FF2B5EF4-FFF2-40B4-BE49-F238E27FC236}">
                <a16:creationId xmlns:a16="http://schemas.microsoft.com/office/drawing/2014/main" id="{B5A9459B-DD79-0ABD-5EF4-A89A9D5468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CABB5-9BFF-24D0-8E26-90491A0E1FEC}"/>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2164595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9CEEB-7EBB-FF37-4FAD-612B3C260AD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885268C-8AD8-7C2C-B077-5620D0F83BA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32BEB2-B137-2BA8-E089-107DE9FEB463}"/>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5" name="Footer Placeholder 4">
            <a:extLst>
              <a:ext uri="{FF2B5EF4-FFF2-40B4-BE49-F238E27FC236}">
                <a16:creationId xmlns:a16="http://schemas.microsoft.com/office/drawing/2014/main" id="{22CA44F3-A9A5-D8D7-1C0F-4295EAAC0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60CBE-DD49-A3EE-0E3B-2046FD3A5A57}"/>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2463204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254613-4411-ABD5-FE60-D81C5A6759C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8B70386-BA83-AA77-7AED-4BA0B6C517B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D63E7D-E4AE-F0B8-676B-5F02E84087F8}"/>
              </a:ext>
            </a:extLst>
          </p:cNvPr>
          <p:cNvSpPr>
            <a:spLocks noGrp="1"/>
          </p:cNvSpPr>
          <p:nvPr>
            <p:ph type="dt" sz="half" idx="10"/>
          </p:nvPr>
        </p:nvSpPr>
        <p:spPr/>
        <p:txBody>
          <a:bodyPr/>
          <a:lstStyle/>
          <a:p>
            <a:fld id="{11644990-373A-454D-B661-1FF853D45F02}" type="datetimeFigureOut">
              <a:rPr lang="en-US" smtClean="0"/>
              <a:t>1/21/2026</a:t>
            </a:fld>
            <a:endParaRPr lang="en-US"/>
          </a:p>
        </p:txBody>
      </p:sp>
      <p:sp>
        <p:nvSpPr>
          <p:cNvPr id="5" name="Footer Placeholder 4">
            <a:extLst>
              <a:ext uri="{FF2B5EF4-FFF2-40B4-BE49-F238E27FC236}">
                <a16:creationId xmlns:a16="http://schemas.microsoft.com/office/drawing/2014/main" id="{0025FCA5-19DA-3177-29CB-1D010E77E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8DA49-EA49-226D-8153-1CC58EFBE9AF}"/>
              </a:ext>
            </a:extLst>
          </p:cNvPr>
          <p:cNvSpPr>
            <a:spLocks noGrp="1"/>
          </p:cNvSpPr>
          <p:nvPr>
            <p:ph type="sldNum" sz="quarter" idx="12"/>
          </p:nvPr>
        </p:nvSpPr>
        <p:spPr/>
        <p:txBody>
          <a:bodyPr/>
          <a:lstStyle/>
          <a:p>
            <a:fld id="{2E6C8C03-C7DC-944C-A040-43423E6DFE6C}" type="slidenum">
              <a:rPr lang="en-US" smtClean="0"/>
              <a:t>‹#›</a:t>
            </a:fld>
            <a:endParaRPr lang="en-US"/>
          </a:p>
        </p:txBody>
      </p:sp>
    </p:spTree>
    <p:extLst>
      <p:ext uri="{BB962C8B-B14F-4D97-AF65-F5344CB8AC3E}">
        <p14:creationId xmlns:p14="http://schemas.microsoft.com/office/powerpoint/2010/main" val="202683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5FE4E3-0075-1215-3044-14605E7B71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52877C6-7D67-A626-B28A-3085A2F629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D26D4B-7372-6ED9-803C-5B9C2E2443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644990-373A-454D-B661-1FF853D45F02}" type="datetimeFigureOut">
              <a:rPr lang="en-US" smtClean="0"/>
              <a:t>1/21/2026</a:t>
            </a:fld>
            <a:endParaRPr lang="en-US"/>
          </a:p>
        </p:txBody>
      </p:sp>
      <p:sp>
        <p:nvSpPr>
          <p:cNvPr id="5" name="Footer Placeholder 4">
            <a:extLst>
              <a:ext uri="{FF2B5EF4-FFF2-40B4-BE49-F238E27FC236}">
                <a16:creationId xmlns:a16="http://schemas.microsoft.com/office/drawing/2014/main" id="{B493CA04-5ACB-26FF-59F6-F6F09D409B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5725A-6E1C-E3C2-F8BF-5E957CC6D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C8C03-C7DC-944C-A040-43423E6DFE6C}" type="slidenum">
              <a:rPr lang="en-US" smtClean="0"/>
              <a:t>‹#›</a:t>
            </a:fld>
            <a:endParaRPr lang="en-US"/>
          </a:p>
        </p:txBody>
      </p:sp>
    </p:spTree>
    <p:extLst>
      <p:ext uri="{BB962C8B-B14F-4D97-AF65-F5344CB8AC3E}">
        <p14:creationId xmlns:p14="http://schemas.microsoft.com/office/powerpoint/2010/main" val="3722075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4/relationships/chartEx" Target="../charts/chartEx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1C4FA-94C1-3FDE-6FA7-A3E732B3108A}"/>
              </a:ext>
            </a:extLst>
          </p:cNvPr>
          <p:cNvSpPr>
            <a:spLocks noGrp="1"/>
          </p:cNvSpPr>
          <p:nvPr>
            <p:ph type="ctrTitle"/>
          </p:nvPr>
        </p:nvSpPr>
        <p:spPr>
          <a:xfrm>
            <a:off x="1534633" y="2110418"/>
            <a:ext cx="9791700" cy="1186893"/>
          </a:xfrm>
        </p:spPr>
        <p:txBody>
          <a:bodyPr>
            <a:normAutofit fontScale="90000"/>
          </a:bodyPr>
          <a:lstStyle/>
          <a:p>
            <a:r>
              <a:rPr lang="en-GB" sz="3600" b="1" dirty="0">
                <a:solidFill>
                  <a:schemeClr val="accent1">
                    <a:lumMod val="50000"/>
                  </a:schemeClr>
                </a:solidFill>
              </a:rPr>
              <a:t>Project </a:t>
            </a:r>
            <a:r>
              <a:rPr lang="en-IN" sz="3600" b="1" dirty="0">
                <a:solidFill>
                  <a:schemeClr val="accent1">
                    <a:lumMod val="50000"/>
                  </a:schemeClr>
                </a:solidFill>
              </a:rPr>
              <a:t>MASET 697J</a:t>
            </a:r>
            <a:br>
              <a:rPr lang="en-GB" sz="3600" b="1" dirty="0">
                <a:solidFill>
                  <a:schemeClr val="accent1">
                    <a:lumMod val="50000"/>
                  </a:schemeClr>
                </a:solidFill>
              </a:rPr>
            </a:br>
            <a:r>
              <a:rPr lang="en-US" sz="3600" b="1" dirty="0">
                <a:solidFill>
                  <a:schemeClr val="accent1">
                    <a:lumMod val="50000"/>
                  </a:schemeClr>
                </a:solidFill>
              </a:rPr>
              <a:t>FPGA Implementation of LZ77 Lossless Data Compressor </a:t>
            </a:r>
          </a:p>
        </p:txBody>
      </p:sp>
      <p:sp>
        <p:nvSpPr>
          <p:cNvPr id="3" name="Subtitle 2">
            <a:extLst>
              <a:ext uri="{FF2B5EF4-FFF2-40B4-BE49-F238E27FC236}">
                <a16:creationId xmlns:a16="http://schemas.microsoft.com/office/drawing/2014/main" id="{41654926-4C3B-8AD1-8758-FEEECE19136C}"/>
              </a:ext>
            </a:extLst>
          </p:cNvPr>
          <p:cNvSpPr>
            <a:spLocks noGrp="1"/>
          </p:cNvSpPr>
          <p:nvPr>
            <p:ph type="subTitle" idx="1"/>
          </p:nvPr>
        </p:nvSpPr>
        <p:spPr>
          <a:xfrm>
            <a:off x="4406446" y="3402419"/>
            <a:ext cx="3527964" cy="1388534"/>
          </a:xfrm>
        </p:spPr>
        <p:txBody>
          <a:bodyPr>
            <a:normAutofit/>
          </a:bodyPr>
          <a:lstStyle/>
          <a:p>
            <a:pPr>
              <a:lnSpc>
                <a:spcPct val="100000"/>
              </a:lnSpc>
            </a:pPr>
            <a:r>
              <a:rPr lang="en-US" dirty="0">
                <a:solidFill>
                  <a:schemeClr val="accent5">
                    <a:lumMod val="75000"/>
                  </a:schemeClr>
                </a:solidFill>
                <a:latin typeface="+mj-lt"/>
                <a:cs typeface="Times New Roman" panose="02020603050405020304" pitchFamily="18" charset="0"/>
              </a:rPr>
              <a:t>Under the guidance of </a:t>
            </a:r>
          </a:p>
          <a:p>
            <a:pPr>
              <a:lnSpc>
                <a:spcPct val="100000"/>
              </a:lnSpc>
            </a:pPr>
            <a:r>
              <a:rPr lang="en-US" dirty="0">
                <a:solidFill>
                  <a:schemeClr val="accent5">
                    <a:lumMod val="75000"/>
                  </a:schemeClr>
                </a:solidFill>
                <a:latin typeface="+mj-lt"/>
                <a:cs typeface="Times New Roman" panose="02020603050405020304" pitchFamily="18" charset="0"/>
              </a:rPr>
              <a:t>Dr. Augusta Sophy </a:t>
            </a:r>
            <a:r>
              <a:rPr lang="en-US" dirty="0" err="1">
                <a:solidFill>
                  <a:schemeClr val="accent5">
                    <a:lumMod val="75000"/>
                  </a:schemeClr>
                </a:solidFill>
                <a:latin typeface="+mj-lt"/>
                <a:cs typeface="Times New Roman" panose="02020603050405020304" pitchFamily="18" charset="0"/>
              </a:rPr>
              <a:t>Beulet</a:t>
            </a:r>
            <a:r>
              <a:rPr lang="en-US" dirty="0">
                <a:solidFill>
                  <a:schemeClr val="accent5">
                    <a:lumMod val="75000"/>
                  </a:schemeClr>
                </a:solidFill>
                <a:latin typeface="+mj-lt"/>
                <a:cs typeface="Times New Roman" panose="02020603050405020304" pitchFamily="18" charset="0"/>
              </a:rPr>
              <a:t> P Professor </a:t>
            </a:r>
          </a:p>
        </p:txBody>
      </p:sp>
      <p:sp>
        <p:nvSpPr>
          <p:cNvPr id="6" name="Subtitle 2">
            <a:extLst>
              <a:ext uri="{FF2B5EF4-FFF2-40B4-BE49-F238E27FC236}">
                <a16:creationId xmlns:a16="http://schemas.microsoft.com/office/drawing/2014/main" id="{EF2FB727-554F-FB65-5DE8-C69BF4961ACA}"/>
              </a:ext>
            </a:extLst>
          </p:cNvPr>
          <p:cNvSpPr txBox="1">
            <a:spLocks/>
          </p:cNvSpPr>
          <p:nvPr/>
        </p:nvSpPr>
        <p:spPr>
          <a:xfrm>
            <a:off x="535239" y="5105443"/>
            <a:ext cx="5616365" cy="89746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rgbClr val="C00000"/>
                </a:solidFill>
                <a:latin typeface="+mj-lt"/>
                <a:cs typeface="Times New Roman" panose="02020603050405020304" pitchFamily="18" charset="0"/>
              </a:rPr>
              <a:t>25MVD1004, Arthy A</a:t>
            </a:r>
          </a:p>
        </p:txBody>
      </p:sp>
      <p:sp>
        <p:nvSpPr>
          <p:cNvPr id="4" name="TextBox 3">
            <a:extLst>
              <a:ext uri="{FF2B5EF4-FFF2-40B4-BE49-F238E27FC236}">
                <a16:creationId xmlns:a16="http://schemas.microsoft.com/office/drawing/2014/main" id="{A384BDA0-EE3D-DD87-483B-9667E17D3D5A}"/>
              </a:ext>
            </a:extLst>
          </p:cNvPr>
          <p:cNvSpPr txBox="1"/>
          <p:nvPr/>
        </p:nvSpPr>
        <p:spPr>
          <a:xfrm>
            <a:off x="2443494" y="904451"/>
            <a:ext cx="7016664" cy="584775"/>
          </a:xfrm>
          <a:prstGeom prst="rect">
            <a:avLst/>
          </a:prstGeom>
          <a:noFill/>
        </p:spPr>
        <p:txBody>
          <a:bodyPr wrap="none" rtlCol="0">
            <a:spAutoFit/>
          </a:bodyPr>
          <a:lstStyle/>
          <a:p>
            <a:r>
              <a:rPr lang="en-US" sz="3200" b="1" dirty="0">
                <a:solidFill>
                  <a:schemeClr val="tx2">
                    <a:lumMod val="50000"/>
                  </a:schemeClr>
                </a:solidFill>
                <a:latin typeface="+mj-lt"/>
              </a:rPr>
              <a:t>School of Electronics Engineering (SENSE)</a:t>
            </a:r>
          </a:p>
        </p:txBody>
      </p:sp>
      <p:pic>
        <p:nvPicPr>
          <p:cNvPr id="9" name="Picture 8"/>
          <p:cNvPicPr/>
          <p:nvPr/>
        </p:nvPicPr>
        <p:blipFill>
          <a:blip r:embed="rId2"/>
          <a:srcRect/>
          <a:stretch/>
        </p:blipFill>
        <p:spPr bwMode="auto">
          <a:xfrm>
            <a:off x="9221755" y="76845"/>
            <a:ext cx="2892490" cy="857942"/>
          </a:xfrm>
          <a:prstGeom prst="rect">
            <a:avLst/>
          </a:prstGeom>
          <a:noFill/>
        </p:spPr>
      </p:pic>
      <p:sp>
        <p:nvSpPr>
          <p:cNvPr id="10" name="Rectangle 9"/>
          <p:cNvSpPr/>
          <p:nvPr/>
        </p:nvSpPr>
        <p:spPr>
          <a:xfrm>
            <a:off x="111209" y="1859928"/>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
        <p:nvSpPr>
          <p:cNvPr id="11" name="Rectangle 10"/>
          <p:cNvSpPr/>
          <p:nvPr/>
        </p:nvSpPr>
        <p:spPr>
          <a:xfrm>
            <a:off x="111211" y="4817313"/>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Tree>
    <p:extLst>
      <p:ext uri="{BB962C8B-B14F-4D97-AF65-F5344CB8AC3E}">
        <p14:creationId xmlns:p14="http://schemas.microsoft.com/office/powerpoint/2010/main" val="1002378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2454-262B-7077-0885-75E61DCC014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B4E0B965-CD17-E2A1-BA84-A2DFD5EE29EF}"/>
              </a:ext>
            </a:extLst>
          </p:cNvPr>
          <p:cNvSpPr>
            <a:spLocks noGrp="1"/>
          </p:cNvSpPr>
          <p:nvPr>
            <p:ph idx="1"/>
          </p:nvPr>
        </p:nvSpPr>
        <p:spPr>
          <a:xfrm>
            <a:off x="558285" y="1732314"/>
            <a:ext cx="11151637" cy="4817771"/>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1. Introduction</a:t>
            </a:r>
          </a:p>
          <a:p>
            <a:pPr marL="0" indent="0">
              <a:lnSpc>
                <a:spcPct val="150000"/>
              </a:lnSpc>
              <a:buNone/>
            </a:pPr>
            <a:r>
              <a:rPr lang="en-US" sz="2400" dirty="0">
                <a:latin typeface="Times New Roman" panose="02020603050405020304" pitchFamily="18" charset="0"/>
                <a:cs typeface="Times New Roman" panose="02020603050405020304" pitchFamily="18" charset="0"/>
              </a:rPr>
              <a:t>2. Objective </a:t>
            </a:r>
          </a:p>
          <a:p>
            <a:pPr marL="0" indent="0">
              <a:lnSpc>
                <a:spcPct val="150000"/>
              </a:lnSpc>
              <a:buNone/>
            </a:pPr>
            <a:r>
              <a:rPr lang="en-US" sz="2400" dirty="0">
                <a:latin typeface="Times New Roman" panose="02020603050405020304" pitchFamily="18" charset="0"/>
                <a:cs typeface="Times New Roman" panose="02020603050405020304" pitchFamily="18" charset="0"/>
              </a:rPr>
              <a:t>3. Literature review</a:t>
            </a:r>
          </a:p>
          <a:p>
            <a:pPr marL="0" indent="0">
              <a:lnSpc>
                <a:spcPct val="150000"/>
              </a:lnSpc>
              <a:buNone/>
            </a:pPr>
            <a:r>
              <a:rPr lang="en-US" sz="2400" dirty="0">
                <a:latin typeface="Times New Roman" panose="02020603050405020304" pitchFamily="18" charset="0"/>
                <a:cs typeface="Times New Roman" panose="02020603050405020304" pitchFamily="18" charset="0"/>
              </a:rPr>
              <a:t>4. Methodology</a:t>
            </a:r>
          </a:p>
          <a:p>
            <a:pPr marL="0" indent="0">
              <a:lnSpc>
                <a:spcPct val="150000"/>
              </a:lnSpc>
              <a:buNone/>
            </a:pPr>
            <a:r>
              <a:rPr lang="en-US" sz="2400" dirty="0">
                <a:latin typeface="Times New Roman" panose="02020603050405020304" pitchFamily="18" charset="0"/>
                <a:cs typeface="Times New Roman" panose="02020603050405020304" pitchFamily="18" charset="0"/>
              </a:rPr>
              <a:t>5. Implementation</a:t>
            </a:r>
          </a:p>
          <a:p>
            <a:pPr marL="0" indent="0">
              <a:lnSpc>
                <a:spcPct val="150000"/>
              </a:lnSpc>
              <a:buNone/>
            </a:pPr>
            <a:r>
              <a:rPr lang="en-US" sz="2400" dirty="0">
                <a:latin typeface="Times New Roman" panose="02020603050405020304" pitchFamily="18" charset="0"/>
                <a:cs typeface="Times New Roman" panose="02020603050405020304" pitchFamily="18" charset="0"/>
              </a:rPr>
              <a:t>6. Simulation</a:t>
            </a:r>
          </a:p>
          <a:p>
            <a:pPr marL="0" indent="0">
              <a:lnSpc>
                <a:spcPct val="150000"/>
              </a:lnSpc>
              <a:buNone/>
            </a:pPr>
            <a:r>
              <a:rPr lang="en-US" sz="2400" dirty="0">
                <a:latin typeface="Times New Roman" panose="02020603050405020304" pitchFamily="18" charset="0"/>
                <a:cs typeface="Times New Roman" panose="02020603050405020304" pitchFamily="18" charset="0"/>
              </a:rPr>
              <a:t>7. Work Plan</a:t>
            </a:r>
          </a:p>
        </p:txBody>
      </p:sp>
      <p:sp>
        <p:nvSpPr>
          <p:cNvPr id="4" name="Rectangle 3"/>
          <p:cNvSpPr/>
          <p:nvPr/>
        </p:nvSpPr>
        <p:spPr>
          <a:xfrm>
            <a:off x="111210" y="1489226"/>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Tree>
    <p:extLst>
      <p:ext uri="{BB962C8B-B14F-4D97-AF65-F5344CB8AC3E}">
        <p14:creationId xmlns:p14="http://schemas.microsoft.com/office/powerpoint/2010/main" val="3799643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D2BEC-795B-F984-2674-95794C4F5F1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DB3915-6C3D-1B8D-EC66-D5FB4579230C}"/>
              </a:ext>
            </a:extLst>
          </p:cNvPr>
          <p:cNvSpPr/>
          <p:nvPr/>
        </p:nvSpPr>
        <p:spPr>
          <a:xfrm>
            <a:off x="111210" y="1489226"/>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
        <p:nvSpPr>
          <p:cNvPr id="6" name="Content Placeholder 5">
            <a:extLst>
              <a:ext uri="{FF2B5EF4-FFF2-40B4-BE49-F238E27FC236}">
                <a16:creationId xmlns:a16="http://schemas.microsoft.com/office/drawing/2014/main" id="{AE84CC4B-3F45-6C8B-B204-C27DC86C9248}"/>
              </a:ext>
            </a:extLst>
          </p:cNvPr>
          <p:cNvSpPr>
            <a:spLocks noGrp="1"/>
          </p:cNvSpPr>
          <p:nvPr>
            <p:ph idx="1"/>
          </p:nvPr>
        </p:nvSpPr>
        <p:spPr/>
        <p:txBody>
          <a:bodyPr>
            <a:normAutofit/>
          </a:bodyPr>
          <a:lstStyle/>
          <a:p>
            <a:pPr>
              <a:lnSpc>
                <a:spcPct val="100000"/>
              </a:lnSpc>
            </a:pPr>
            <a:r>
              <a:rPr lang="en-US" sz="1800" dirty="0"/>
              <a:t>With the rapid growth of </a:t>
            </a:r>
            <a:r>
              <a:rPr lang="en-US" sz="1800" b="1" dirty="0"/>
              <a:t>AI and Machine Learning applications</a:t>
            </a:r>
            <a:r>
              <a:rPr lang="en-US" sz="1800" dirty="0"/>
              <a:t>, the amount of data generated and processed is increasing at an unprecedented rate. These applications demand </a:t>
            </a:r>
            <a:r>
              <a:rPr lang="en-US" sz="1800" b="1" dirty="0"/>
              <a:t>high-speed, efficient, and lossless data compression</a:t>
            </a:r>
            <a:r>
              <a:rPr lang="en-US" sz="1800" dirty="0"/>
              <a:t> to reduce storage requirements, transmission bandwidth, and associated costs while ensuring data integrity. </a:t>
            </a:r>
          </a:p>
          <a:p>
            <a:pPr>
              <a:lnSpc>
                <a:spcPct val="100000"/>
              </a:lnSpc>
            </a:pPr>
            <a:r>
              <a:rPr lang="en-US" sz="1800" dirty="0"/>
              <a:t>Conventional approaches often fail to meet the stringent requirements of </a:t>
            </a:r>
            <a:r>
              <a:rPr lang="en-US" sz="1800" b="1" dirty="0"/>
              <a:t>real-time performance, low power, and scalability</a:t>
            </a:r>
            <a:r>
              <a:rPr lang="en-US" sz="1800" dirty="0"/>
              <a:t>. Hence, there is a strong need for an </a:t>
            </a:r>
            <a:r>
              <a:rPr lang="en-US" sz="1800" b="1" dirty="0"/>
              <a:t>FPGA-based hardware implementation of efficient compression techniques</a:t>
            </a:r>
            <a:r>
              <a:rPr lang="en-US" sz="1800" dirty="0"/>
              <a:t>, leveraging parallelism and reconfigurability to deliver </a:t>
            </a:r>
            <a:r>
              <a:rPr lang="en-US" sz="1800" b="1" dirty="0"/>
              <a:t>high throughput, reduced latency, and energy efficiency</a:t>
            </a:r>
            <a:r>
              <a:rPr lang="en-US" sz="1800" dirty="0"/>
              <a:t> for modern data-intensive systems.</a:t>
            </a:r>
            <a:endParaRPr lang="en-IN" sz="1800" dirty="0"/>
          </a:p>
        </p:txBody>
      </p:sp>
      <p:sp>
        <p:nvSpPr>
          <p:cNvPr id="7" name="Title 1">
            <a:extLst>
              <a:ext uri="{FF2B5EF4-FFF2-40B4-BE49-F238E27FC236}">
                <a16:creationId xmlns:a16="http://schemas.microsoft.com/office/drawing/2014/main" id="{D47CECCC-8D94-508A-289C-C10652974AAC}"/>
              </a:ext>
            </a:extLst>
          </p:cNvPr>
          <p:cNvSpPr>
            <a:spLocks noGrp="1"/>
          </p:cNvSpPr>
          <p:nvPr>
            <p:ph type="title"/>
          </p:nvPr>
        </p:nvSpPr>
        <p:spPr>
          <a:xfrm>
            <a:off x="530225" y="173038"/>
            <a:ext cx="10515600" cy="1325562"/>
          </a:xfrm>
        </p:spPr>
        <p:txBody>
          <a:bodyPr/>
          <a:lstStyle/>
          <a:p>
            <a:r>
              <a:rPr lang="en-US" dirty="0">
                <a:latin typeface="Times New Roman" panose="02020603050405020304" pitchFamily="18" charset="0"/>
                <a:cs typeface="Times New Roman" panose="02020603050405020304" pitchFamily="18" charset="0"/>
              </a:rPr>
              <a:t>Objective</a:t>
            </a:r>
          </a:p>
        </p:txBody>
      </p:sp>
      <p:pic>
        <p:nvPicPr>
          <p:cNvPr id="2050" name="Picture 2" descr="How to Effectively Compress Images with Keras (with Practical Examples) |  Apriorit">
            <a:extLst>
              <a:ext uri="{FF2B5EF4-FFF2-40B4-BE49-F238E27FC236}">
                <a16:creationId xmlns:a16="http://schemas.microsoft.com/office/drawing/2014/main" id="{BB1C1C92-2376-E719-7A3D-43E0FEB73F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2" t="20469" r="2351" b="8881"/>
          <a:stretch>
            <a:fillRect/>
          </a:stretch>
        </p:blipFill>
        <p:spPr bwMode="auto">
          <a:xfrm>
            <a:off x="3249635" y="4271703"/>
            <a:ext cx="5717443" cy="2398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2274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A5E50D-5DC9-DA1A-BD1A-99138A658B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C7C8FA-4A93-619F-A502-776F279BD2DC}"/>
              </a:ext>
            </a:extLst>
          </p:cNvPr>
          <p:cNvSpPr/>
          <p:nvPr/>
        </p:nvSpPr>
        <p:spPr>
          <a:xfrm>
            <a:off x="111211" y="1226180"/>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
        <p:nvSpPr>
          <p:cNvPr id="6" name="Content Placeholder 5">
            <a:extLst>
              <a:ext uri="{FF2B5EF4-FFF2-40B4-BE49-F238E27FC236}">
                <a16:creationId xmlns:a16="http://schemas.microsoft.com/office/drawing/2014/main" id="{ABDEEC71-BA5F-0EE2-47EF-2A3E9208E669}"/>
              </a:ext>
            </a:extLst>
          </p:cNvPr>
          <p:cNvSpPr>
            <a:spLocks noGrp="1"/>
          </p:cNvSpPr>
          <p:nvPr>
            <p:ph idx="1"/>
          </p:nvPr>
        </p:nvSpPr>
        <p:spPr>
          <a:xfrm>
            <a:off x="838200" y="1587630"/>
            <a:ext cx="10515600" cy="4787826"/>
          </a:xfrm>
        </p:spPr>
        <p:txBody>
          <a:bodyPr>
            <a:normAutofit/>
          </a:bodyPr>
          <a:lstStyle/>
          <a:p>
            <a:pPr marL="0" indent="0" algn="just">
              <a:lnSpc>
                <a:spcPct val="100000"/>
              </a:lnSpc>
              <a:buNone/>
            </a:pPr>
            <a:r>
              <a:rPr lang="en-IN" sz="2400" b="1" dirty="0"/>
              <a:t>“Accurate Blind Lempel-Ziv-77 Parameter </a:t>
            </a:r>
            <a:r>
              <a:rPr lang="it-IT" sz="2400" b="1" dirty="0"/>
              <a:t>Estimation via 1-D to 2-D Data Conversion </a:t>
            </a:r>
            <a:r>
              <a:rPr lang="en-IN" sz="2400" b="1" dirty="0"/>
              <a:t>Over Convolutional Neural Network”</a:t>
            </a:r>
          </a:p>
          <a:p>
            <a:pPr marL="0" indent="0" algn="r">
              <a:buNone/>
            </a:pPr>
            <a:r>
              <a:rPr lang="en-IN" sz="1600" dirty="0"/>
              <a:t>BEOM KWON 1, HYEWON SONG 2, AND SANGHOON LEE 2, (Senior Member, IEEE) </a:t>
            </a:r>
          </a:p>
          <a:p>
            <a:r>
              <a:rPr lang="en-US" sz="1800" dirty="0"/>
              <a:t>Proposes a new way to convert the compressed data into images (LZ77 images) to reveal hidden patterns.</a:t>
            </a:r>
          </a:p>
          <a:p>
            <a:pPr algn="just">
              <a:lnSpc>
                <a:spcPct val="100000"/>
              </a:lnSpc>
            </a:pPr>
            <a:r>
              <a:rPr lang="en-US" sz="1800" dirty="0"/>
              <a:t>When the header containing this length is lost, estimating it from compressed data alone is difficult.</a:t>
            </a:r>
          </a:p>
          <a:p>
            <a:pPr algn="just">
              <a:lnSpc>
                <a:spcPct val="100000"/>
              </a:lnSpc>
            </a:pPr>
            <a:r>
              <a:rPr lang="en-US" sz="1800" dirty="0"/>
              <a:t>The authors create 2-D images from 1-D LZ77 data, termed LZ77 images, where tuple length affects visual line patterns.</a:t>
            </a:r>
          </a:p>
          <a:p>
            <a:pPr algn="just">
              <a:lnSpc>
                <a:spcPct val="100000"/>
              </a:lnSpc>
            </a:pPr>
            <a:r>
              <a:rPr lang="en-US" sz="1800" dirty="0"/>
              <a:t>A CNN is employed to extract features from these LZ77 images, enabling blind, accurate tuple length estimation. Develops an iterative algorithm to generate these images and accurately guess the tuple length even when the original header is lost.</a:t>
            </a:r>
          </a:p>
          <a:p>
            <a:pPr marL="0" indent="0">
              <a:lnSpc>
                <a:spcPct val="100000"/>
              </a:lnSpc>
              <a:buNone/>
            </a:pPr>
            <a:r>
              <a:rPr lang="en-IN" sz="1800" b="1" dirty="0"/>
              <a:t>Tuple/Triplet </a:t>
            </a:r>
            <a:r>
              <a:rPr lang="en-IN" sz="1800" b="1" dirty="0">
                <a:solidFill>
                  <a:srgbClr val="FF0000"/>
                </a:solidFill>
              </a:rPr>
              <a:t>&lt;OFFSET,LENGTH,NEXT&gt; </a:t>
            </a:r>
            <a:endParaRPr lang="en-US" sz="1800" dirty="0"/>
          </a:p>
          <a:p>
            <a:pPr algn="just">
              <a:lnSpc>
                <a:spcPct val="100000"/>
              </a:lnSpc>
            </a:pPr>
            <a:endParaRPr lang="en-US" sz="1800" dirty="0"/>
          </a:p>
          <a:p>
            <a:pPr marL="0" indent="0" algn="just">
              <a:lnSpc>
                <a:spcPct val="100000"/>
              </a:lnSpc>
              <a:buNone/>
            </a:pPr>
            <a:endParaRPr lang="en-IN" sz="1600" dirty="0"/>
          </a:p>
        </p:txBody>
      </p:sp>
      <p:pic>
        <p:nvPicPr>
          <p:cNvPr id="15" name="Picture 14">
            <a:extLst>
              <a:ext uri="{FF2B5EF4-FFF2-40B4-BE49-F238E27FC236}">
                <a16:creationId xmlns:a16="http://schemas.microsoft.com/office/drawing/2014/main" id="{CBF5D45D-D2E1-FFEC-EB6D-2B2454BBF578}"/>
              </a:ext>
            </a:extLst>
          </p:cNvPr>
          <p:cNvPicPr>
            <a:picLocks noChangeAspect="1"/>
          </p:cNvPicPr>
          <p:nvPr/>
        </p:nvPicPr>
        <p:blipFill>
          <a:blip r:embed="rId2"/>
          <a:stretch>
            <a:fillRect/>
          </a:stretch>
        </p:blipFill>
        <p:spPr>
          <a:xfrm>
            <a:off x="4935253" y="4659682"/>
            <a:ext cx="6881178" cy="1670365"/>
          </a:xfrm>
          <a:prstGeom prst="rect">
            <a:avLst/>
          </a:prstGeom>
        </p:spPr>
      </p:pic>
      <p:sp>
        <p:nvSpPr>
          <p:cNvPr id="18" name="TextBox 17">
            <a:extLst>
              <a:ext uri="{FF2B5EF4-FFF2-40B4-BE49-F238E27FC236}">
                <a16:creationId xmlns:a16="http://schemas.microsoft.com/office/drawing/2014/main" id="{9C198087-7C74-9090-FA4D-D48C49E49C9F}"/>
              </a:ext>
            </a:extLst>
          </p:cNvPr>
          <p:cNvSpPr txBox="1"/>
          <p:nvPr/>
        </p:nvSpPr>
        <p:spPr>
          <a:xfrm>
            <a:off x="6333995" y="6342249"/>
            <a:ext cx="4816549" cy="369332"/>
          </a:xfrm>
          <a:prstGeom prst="rect">
            <a:avLst/>
          </a:prstGeom>
          <a:noFill/>
        </p:spPr>
        <p:txBody>
          <a:bodyPr wrap="square" rtlCol="0">
            <a:spAutoFit/>
          </a:bodyPr>
          <a:lstStyle/>
          <a:p>
            <a:r>
              <a:rPr lang="en-IN" b="1" dirty="0"/>
              <a:t>STRUCTURE OF LZ77 COMPRESSED DATA</a:t>
            </a:r>
            <a:endParaRPr lang="en-IN" dirty="0"/>
          </a:p>
        </p:txBody>
      </p:sp>
      <p:sp>
        <p:nvSpPr>
          <p:cNvPr id="19" name="Title 1">
            <a:extLst>
              <a:ext uri="{FF2B5EF4-FFF2-40B4-BE49-F238E27FC236}">
                <a16:creationId xmlns:a16="http://schemas.microsoft.com/office/drawing/2014/main" id="{7937C030-C345-DF57-6632-C8C310362330}"/>
              </a:ext>
            </a:extLst>
          </p:cNvPr>
          <p:cNvSpPr>
            <a:spLocks noGrp="1"/>
          </p:cNvSpPr>
          <p:nvPr>
            <p:ph type="title"/>
          </p:nvPr>
        </p:nvSpPr>
        <p:spPr>
          <a:xfrm>
            <a:off x="530225" y="173038"/>
            <a:ext cx="10515600" cy="1079500"/>
          </a:xfrm>
        </p:spPr>
        <p:txBody>
          <a:bodyPr/>
          <a:lstStyle/>
          <a:p>
            <a:r>
              <a:rPr lang="en-US" dirty="0">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1029210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C36CBB-3B95-A2BA-0914-24E11DA0E62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1F7D3EC-255D-17DE-B6AF-8C5605626C20}"/>
              </a:ext>
            </a:extLst>
          </p:cNvPr>
          <p:cNvSpPr txBox="1">
            <a:spLocks/>
          </p:cNvSpPr>
          <p:nvPr/>
        </p:nvSpPr>
        <p:spPr>
          <a:xfrm>
            <a:off x="304388" y="3280193"/>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200" dirty="0">
              <a:latin typeface="Times New Roman" panose="02020603050405020304" pitchFamily="18" charset="0"/>
              <a:cs typeface="Times New Roman" panose="02020603050405020304" pitchFamily="18" charset="0"/>
            </a:endParaRPr>
          </a:p>
        </p:txBody>
      </p:sp>
      <p:sp>
        <p:nvSpPr>
          <p:cNvPr id="7" name="Content Placeholder 5">
            <a:extLst>
              <a:ext uri="{FF2B5EF4-FFF2-40B4-BE49-F238E27FC236}">
                <a16:creationId xmlns:a16="http://schemas.microsoft.com/office/drawing/2014/main" id="{B6FAD99A-FA79-0BB0-A3C3-C55FCA17F697}"/>
              </a:ext>
            </a:extLst>
          </p:cNvPr>
          <p:cNvSpPr>
            <a:spLocks noGrp="1"/>
          </p:cNvSpPr>
          <p:nvPr>
            <p:ph idx="1"/>
          </p:nvPr>
        </p:nvSpPr>
        <p:spPr>
          <a:xfrm>
            <a:off x="764088" y="613774"/>
            <a:ext cx="10622071" cy="5611661"/>
          </a:xfrm>
        </p:spPr>
        <p:txBody>
          <a:bodyPr>
            <a:normAutofit/>
          </a:bodyPr>
          <a:lstStyle/>
          <a:p>
            <a:pPr marL="0" lvl="0" indent="0">
              <a:buNone/>
            </a:pPr>
            <a:r>
              <a:rPr lang="en-US" sz="2400" b="1" dirty="0">
                <a:cs typeface="Times New Roman" panose="02020603050405020304" pitchFamily="18" charset="0"/>
              </a:rPr>
              <a:t>“FPGA-Based Lossless Data Compression using</a:t>
            </a:r>
            <a:r>
              <a:rPr lang="en-IN" sz="2400" b="1" dirty="0">
                <a:cs typeface="Times New Roman" panose="02020603050405020304" pitchFamily="18" charset="0"/>
              </a:rPr>
              <a:t> Huffman and LZ77 Algorithms”</a:t>
            </a:r>
          </a:p>
          <a:p>
            <a:pPr marL="0" lvl="0" indent="0" algn="r">
              <a:buNone/>
            </a:pPr>
            <a:r>
              <a:rPr lang="en-IN" sz="1600" dirty="0">
                <a:cs typeface="Times New Roman" panose="02020603050405020304" pitchFamily="18" charset="0"/>
              </a:rPr>
              <a:t>Suzanne Rigler., William Bishop., and Andrew Kennings</a:t>
            </a:r>
          </a:p>
          <a:p>
            <a:pPr>
              <a:lnSpc>
                <a:spcPct val="100000"/>
              </a:lnSpc>
            </a:pPr>
            <a:r>
              <a:rPr lang="en-IN" sz="1800" dirty="0">
                <a:cs typeface="Times New Roman" panose="02020603050405020304" pitchFamily="18" charset="0"/>
              </a:rPr>
              <a:t>The literature indicates that while software-based compressors can achieve high compression ratios, they often fail to meet real-time constraints in embedded applications. Therefore, hardware-based solutions—particularly those using FPGA—provide a compelling alternative by offering </a:t>
            </a:r>
            <a:r>
              <a:rPr lang="en-IN" sz="1800" b="1" dirty="0">
                <a:cs typeface="Times New Roman" panose="02020603050405020304" pitchFamily="18" charset="0"/>
              </a:rPr>
              <a:t>customizability</a:t>
            </a:r>
            <a:r>
              <a:rPr lang="en-IN" sz="1800" dirty="0">
                <a:cs typeface="Times New Roman" panose="02020603050405020304" pitchFamily="18" charset="0"/>
              </a:rPr>
              <a:t>, </a:t>
            </a:r>
            <a:r>
              <a:rPr lang="en-IN" sz="1800" b="1" dirty="0">
                <a:cs typeface="Times New Roman" panose="02020603050405020304" pitchFamily="18" charset="0"/>
              </a:rPr>
              <a:t>parallelism</a:t>
            </a:r>
            <a:r>
              <a:rPr lang="en-IN" sz="1800" dirty="0">
                <a:cs typeface="Times New Roman" panose="02020603050405020304" pitchFamily="18" charset="0"/>
              </a:rPr>
              <a:t>, and </a:t>
            </a:r>
            <a:r>
              <a:rPr lang="en-IN" sz="1800" b="1" dirty="0">
                <a:cs typeface="Times New Roman" panose="02020603050405020304" pitchFamily="18" charset="0"/>
              </a:rPr>
              <a:t>high-speed performance</a:t>
            </a:r>
            <a:r>
              <a:rPr lang="en-IN" sz="1800" dirty="0">
                <a:cs typeface="Times New Roman" panose="02020603050405020304" pitchFamily="18" charset="0"/>
              </a:rPr>
              <a:t>.</a:t>
            </a:r>
          </a:p>
          <a:p>
            <a:pPr marL="0" indent="0">
              <a:lnSpc>
                <a:spcPct val="100000"/>
              </a:lnSpc>
              <a:buNone/>
            </a:pPr>
            <a:endParaRPr lang="en-IN" sz="1800" dirty="0">
              <a:cs typeface="Times New Roman" panose="02020603050405020304" pitchFamily="18" charset="0"/>
            </a:endParaRPr>
          </a:p>
          <a:p>
            <a:pPr marL="0" indent="0">
              <a:buNone/>
            </a:pPr>
            <a:r>
              <a:rPr lang="en-IN" sz="2400" b="1" dirty="0"/>
              <a:t>“Low-Overhead Compressibility Prediction for High-Performance Lossless Data Compression”</a:t>
            </a:r>
          </a:p>
          <a:p>
            <a:pPr marL="0" indent="0" algn="r">
              <a:buNone/>
            </a:pPr>
            <a:r>
              <a:rPr lang="en-IN" sz="1500" dirty="0"/>
              <a:t>YOUNGIL KIM 1, SEUNGDO CHOI 1, DAEYONG LEE 1, JOONYONG JEONG 1,JAEWOOK KWAK 1, JUNGKEOL LEE 1, GYEONGYONG LEE 1, </a:t>
            </a:r>
            <a:r>
              <a:rPr lang="en-US" sz="1500" dirty="0"/>
              <a:t>AND YONG HO SONG1, 2, (Member, IEEE)</a:t>
            </a:r>
            <a:endParaRPr lang="en-IN" sz="1500" b="1" dirty="0">
              <a:cs typeface="Times New Roman" panose="02020603050405020304" pitchFamily="18" charset="0"/>
            </a:endParaRPr>
          </a:p>
          <a:p>
            <a:pPr algn="just">
              <a:lnSpc>
                <a:spcPct val="100000"/>
              </a:lnSpc>
            </a:pPr>
            <a:r>
              <a:rPr lang="en-US" sz="1800" dirty="0"/>
              <a:t>DEFLATE first compresses data using LZ77 for repeated patterns and then applies Huffman coding to optimize encoding size, balancing speed and compression efficiency</a:t>
            </a:r>
          </a:p>
          <a:p>
            <a:pPr algn="just">
              <a:lnSpc>
                <a:spcPct val="100000"/>
              </a:lnSpc>
            </a:pPr>
            <a:r>
              <a:rPr lang="en-US" sz="1800" dirty="0"/>
              <a:t>combines two main techniques: LZ77 encoding and Huffman coding to achieve efficient lossless compression</a:t>
            </a:r>
          </a:p>
          <a:p>
            <a:pPr algn="just">
              <a:lnSpc>
                <a:spcPct val="100000"/>
              </a:lnSpc>
            </a:pPr>
            <a:endParaRPr lang="en-US" sz="1800" dirty="0"/>
          </a:p>
          <a:p>
            <a:pPr algn="just">
              <a:lnSpc>
                <a:spcPct val="100000"/>
              </a:lnSpc>
            </a:pPr>
            <a:endParaRPr lang="en-IN" sz="1800" b="1" dirty="0"/>
          </a:p>
          <a:p>
            <a:pPr marL="0" indent="0" algn="just">
              <a:lnSpc>
                <a:spcPct val="100000"/>
              </a:lnSpc>
              <a:buNone/>
            </a:pPr>
            <a:endParaRPr lang="en-IN" sz="2400" b="1" dirty="0"/>
          </a:p>
          <a:p>
            <a:pPr lvl="0">
              <a:buNone/>
            </a:pPr>
            <a:endParaRPr lang="en-IN" sz="2400" b="1" dirty="0">
              <a:cs typeface="Times New Roman" panose="02020603050405020304" pitchFamily="18" charset="0"/>
            </a:endParaRPr>
          </a:p>
          <a:p>
            <a:endParaRPr lang="en-IN" sz="2400" b="1" dirty="0">
              <a:cs typeface="Times New Roman" panose="02020603050405020304" pitchFamily="18" charset="0"/>
            </a:endParaRPr>
          </a:p>
          <a:p>
            <a:pPr marL="0" indent="0" algn="just">
              <a:lnSpc>
                <a:spcPct val="100000"/>
              </a:lnSpc>
              <a:buNone/>
            </a:pPr>
            <a:endParaRPr lang="en-IN" sz="1600" dirty="0"/>
          </a:p>
        </p:txBody>
      </p:sp>
    </p:spTree>
    <p:extLst>
      <p:ext uri="{BB962C8B-B14F-4D97-AF65-F5344CB8AC3E}">
        <p14:creationId xmlns:p14="http://schemas.microsoft.com/office/powerpoint/2010/main" val="26726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9DD3C8-03DC-0F6C-0EFE-7D0DD1851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91127-D39E-A48F-8C2F-A4F9E181E9E4}"/>
              </a:ext>
            </a:extLst>
          </p:cNvPr>
          <p:cNvSpPr>
            <a:spLocks noGrp="1"/>
          </p:cNvSpPr>
          <p:nvPr>
            <p:ph type="title"/>
          </p:nvPr>
        </p:nvSpPr>
        <p:spPr>
          <a:xfrm>
            <a:off x="529856" y="173738"/>
            <a:ext cx="10515600" cy="1325563"/>
          </a:xfrm>
        </p:spPr>
        <p:txBody>
          <a:bodyPr>
            <a:noAutofit/>
          </a:bodyPr>
          <a:lstStyle/>
          <a:p>
            <a:r>
              <a:rPr lang="en-IN" sz="3200" b="1" dirty="0"/>
              <a:t>Design of FPGA-based LZ77Compressor with Runtime Configurable Compression Ratio and Throughput</a:t>
            </a:r>
            <a:endParaRPr lang="en-US" sz="32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4B8AE25-D504-94BA-9A6D-1F584AE47672}"/>
              </a:ext>
            </a:extLst>
          </p:cNvPr>
          <p:cNvSpPr/>
          <p:nvPr/>
        </p:nvSpPr>
        <p:spPr>
          <a:xfrm>
            <a:off x="111210" y="1489226"/>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
        <p:nvSpPr>
          <p:cNvPr id="6" name="Content Placeholder 5">
            <a:extLst>
              <a:ext uri="{FF2B5EF4-FFF2-40B4-BE49-F238E27FC236}">
                <a16:creationId xmlns:a16="http://schemas.microsoft.com/office/drawing/2014/main" id="{4998BBD6-C27E-3D8D-E594-B1B73072E2B5}"/>
              </a:ext>
            </a:extLst>
          </p:cNvPr>
          <p:cNvSpPr>
            <a:spLocks noGrp="1"/>
          </p:cNvSpPr>
          <p:nvPr>
            <p:ph idx="1"/>
          </p:nvPr>
        </p:nvSpPr>
        <p:spPr/>
        <p:txBody>
          <a:bodyPr>
            <a:normAutofit/>
          </a:bodyPr>
          <a:lstStyle/>
          <a:p>
            <a:pPr>
              <a:lnSpc>
                <a:spcPct val="100000"/>
              </a:lnSpc>
            </a:pPr>
            <a:r>
              <a:rPr lang="en-US" sz="1800" dirty="0"/>
              <a:t>LZ77 compression involves finding repeated strings in data by comparing multiple substrings.</a:t>
            </a:r>
          </a:p>
          <a:p>
            <a:pPr>
              <a:lnSpc>
                <a:spcPct val="100000"/>
              </a:lnSpc>
            </a:pPr>
            <a:r>
              <a:rPr lang="en-US" sz="1800" dirty="0"/>
              <a:t>The architecture changes the degree of parallelism in these comparison operations to balance CR and throughput dynamically.</a:t>
            </a:r>
          </a:p>
          <a:p>
            <a:pPr>
              <a:lnSpc>
                <a:spcPct val="100000"/>
              </a:lnSpc>
            </a:pPr>
            <a:r>
              <a:rPr lang="en-US" sz="1800" dirty="0"/>
              <a:t>Two modes are supported:</a:t>
            </a:r>
          </a:p>
          <a:p>
            <a:pPr lvl="1">
              <a:lnSpc>
                <a:spcPct val="100000"/>
              </a:lnSpc>
            </a:pPr>
            <a:r>
              <a:rPr lang="en-US" sz="1800" b="1" dirty="0"/>
              <a:t>Throughput-First (TF) mode</a:t>
            </a:r>
            <a:r>
              <a:rPr lang="en-US" sz="1800" dirty="0"/>
              <a:t> prioritizes faster data processing by reducing comparisons, which slightly lowers the compression ratio.</a:t>
            </a:r>
          </a:p>
          <a:p>
            <a:pPr lvl="1">
              <a:lnSpc>
                <a:spcPct val="100000"/>
              </a:lnSpc>
            </a:pPr>
            <a:r>
              <a:rPr lang="en-US" sz="1800" b="1" dirty="0"/>
              <a:t>Compression Ratio-First (CF) mode </a:t>
            </a:r>
            <a:r>
              <a:rPr lang="en-US" sz="1800" dirty="0"/>
              <a:t>prioritizes better compression by performing more comparisons, slightly reducing throughput.</a:t>
            </a:r>
          </a:p>
          <a:p>
            <a:pPr>
              <a:lnSpc>
                <a:spcPct val="100000"/>
              </a:lnSpc>
            </a:pPr>
            <a:r>
              <a:rPr lang="en-US" sz="1800" dirty="0"/>
              <a:t>The parallelism of comparisons can be changed dynamically, skipping unnecessary comparisons to optimize the desired metric without changing hardware.</a:t>
            </a:r>
          </a:p>
          <a:p>
            <a:pPr marL="0" indent="0">
              <a:lnSpc>
                <a:spcPct val="100000"/>
              </a:lnSpc>
              <a:buNone/>
            </a:pPr>
            <a:endParaRPr lang="en-US" sz="1800" dirty="0"/>
          </a:p>
          <a:p>
            <a:pPr>
              <a:lnSpc>
                <a:spcPct val="100000"/>
              </a:lnSpc>
            </a:pPr>
            <a:endParaRPr lang="en-IN" sz="1800" dirty="0"/>
          </a:p>
        </p:txBody>
      </p:sp>
      <p:pic>
        <p:nvPicPr>
          <p:cNvPr id="5" name="Picture 4">
            <a:extLst>
              <a:ext uri="{FF2B5EF4-FFF2-40B4-BE49-F238E27FC236}">
                <a16:creationId xmlns:a16="http://schemas.microsoft.com/office/drawing/2014/main" id="{930CA66F-BCAE-F1C3-D967-7163C28E416D}"/>
              </a:ext>
            </a:extLst>
          </p:cNvPr>
          <p:cNvPicPr>
            <a:picLocks noChangeAspect="1"/>
          </p:cNvPicPr>
          <p:nvPr/>
        </p:nvPicPr>
        <p:blipFill>
          <a:blip r:embed="rId3"/>
          <a:srcRect t="14387" b="7779"/>
          <a:stretch>
            <a:fillRect/>
          </a:stretch>
        </p:blipFill>
        <p:spPr>
          <a:xfrm>
            <a:off x="3600101" y="5267427"/>
            <a:ext cx="4991797" cy="1127051"/>
          </a:xfrm>
          <a:prstGeom prst="rect">
            <a:avLst/>
          </a:prstGeom>
        </p:spPr>
      </p:pic>
    </p:spTree>
    <p:extLst>
      <p:ext uri="{BB962C8B-B14F-4D97-AF65-F5344CB8AC3E}">
        <p14:creationId xmlns:p14="http://schemas.microsoft.com/office/powerpoint/2010/main" val="240684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BE8F6-FDE5-A28C-A947-AB3A1F1AD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F4590-81DB-C4B1-5F22-22C1F46DA805}"/>
              </a:ext>
            </a:extLst>
          </p:cNvPr>
          <p:cNvSpPr>
            <a:spLocks noGrp="1"/>
          </p:cNvSpPr>
          <p:nvPr>
            <p:ph type="title"/>
          </p:nvPr>
        </p:nvSpPr>
        <p:spPr>
          <a:xfrm>
            <a:off x="675640" y="-213995"/>
            <a:ext cx="10515600" cy="1325563"/>
          </a:xfrm>
        </p:spPr>
        <p:txBody>
          <a:bodyPr/>
          <a:lstStyle/>
          <a:p>
            <a:pPr>
              <a:lnSpc>
                <a:spcPct val="150000"/>
              </a:lnSpc>
            </a:pPr>
            <a:r>
              <a:rPr lang="en-US" dirty="0">
                <a:latin typeface="Times New Roman" panose="02020603050405020304" pitchFamily="18" charset="0"/>
                <a:cs typeface="Times New Roman" panose="02020603050405020304" pitchFamily="18" charset="0"/>
              </a:rPr>
              <a:t>Implementation</a:t>
            </a:r>
          </a:p>
        </p:txBody>
      </p:sp>
      <p:sp>
        <p:nvSpPr>
          <p:cNvPr id="4" name="Rectangle 3">
            <a:extLst>
              <a:ext uri="{FF2B5EF4-FFF2-40B4-BE49-F238E27FC236}">
                <a16:creationId xmlns:a16="http://schemas.microsoft.com/office/drawing/2014/main" id="{061245A9-CDA1-DE6F-EFBD-8B88DDEBDC85}"/>
              </a:ext>
            </a:extLst>
          </p:cNvPr>
          <p:cNvSpPr/>
          <p:nvPr/>
        </p:nvSpPr>
        <p:spPr>
          <a:xfrm>
            <a:off x="111211" y="1052346"/>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pic>
        <p:nvPicPr>
          <p:cNvPr id="12" name="Picture 11">
            <a:extLst>
              <a:ext uri="{FF2B5EF4-FFF2-40B4-BE49-F238E27FC236}">
                <a16:creationId xmlns:a16="http://schemas.microsoft.com/office/drawing/2014/main" id="{B5FD64B7-4D7E-E292-C13E-2C51BC38AAAD}"/>
              </a:ext>
            </a:extLst>
          </p:cNvPr>
          <p:cNvPicPr>
            <a:picLocks noChangeAspect="1"/>
          </p:cNvPicPr>
          <p:nvPr/>
        </p:nvPicPr>
        <p:blipFill>
          <a:blip r:embed="rId2"/>
          <a:stretch>
            <a:fillRect/>
          </a:stretch>
        </p:blipFill>
        <p:spPr>
          <a:xfrm>
            <a:off x="2556078" y="3578857"/>
            <a:ext cx="6754168" cy="2781688"/>
          </a:xfrm>
          <a:prstGeom prst="rect">
            <a:avLst/>
          </a:prstGeom>
        </p:spPr>
      </p:pic>
      <p:sp>
        <p:nvSpPr>
          <p:cNvPr id="13" name="TextBox 12">
            <a:extLst>
              <a:ext uri="{FF2B5EF4-FFF2-40B4-BE49-F238E27FC236}">
                <a16:creationId xmlns:a16="http://schemas.microsoft.com/office/drawing/2014/main" id="{500248DE-C468-7E22-23E2-CEF401F78C39}"/>
              </a:ext>
            </a:extLst>
          </p:cNvPr>
          <p:cNvSpPr txBox="1"/>
          <p:nvPr/>
        </p:nvSpPr>
        <p:spPr>
          <a:xfrm>
            <a:off x="3210560" y="4683760"/>
            <a:ext cx="5120640" cy="369332"/>
          </a:xfrm>
          <a:prstGeom prst="rect">
            <a:avLst/>
          </a:prstGeom>
          <a:noFill/>
        </p:spPr>
        <p:txBody>
          <a:bodyPr wrap="square" rtlCol="0">
            <a:spAutoFit/>
          </a:bodyPr>
          <a:lstStyle/>
          <a:p>
            <a:r>
              <a:rPr lang="en-IN" dirty="0"/>
              <a:t>   0          1          2           3          4           5          6          7</a:t>
            </a:r>
          </a:p>
        </p:txBody>
      </p:sp>
      <p:cxnSp>
        <p:nvCxnSpPr>
          <p:cNvPr id="15" name="Straight Arrow Connector 14">
            <a:extLst>
              <a:ext uri="{FF2B5EF4-FFF2-40B4-BE49-F238E27FC236}">
                <a16:creationId xmlns:a16="http://schemas.microsoft.com/office/drawing/2014/main" id="{8DC2BEC8-8E49-7984-7174-49331AC39076}"/>
              </a:ext>
            </a:extLst>
          </p:cNvPr>
          <p:cNvCxnSpPr/>
          <p:nvPr/>
        </p:nvCxnSpPr>
        <p:spPr>
          <a:xfrm>
            <a:off x="1676400" y="4145280"/>
            <a:ext cx="100584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0410B2BB-9B80-4971-C6B2-84B825B94995}"/>
              </a:ext>
            </a:extLst>
          </p:cNvPr>
          <p:cNvCxnSpPr/>
          <p:nvPr/>
        </p:nvCxnSpPr>
        <p:spPr>
          <a:xfrm>
            <a:off x="1686560" y="4714240"/>
            <a:ext cx="100584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159BF175-DF1B-7534-D926-0E50D7C9B6AE}"/>
              </a:ext>
            </a:extLst>
          </p:cNvPr>
          <p:cNvCxnSpPr>
            <a:cxnSpLocks/>
          </p:cNvCxnSpPr>
          <p:nvPr/>
        </p:nvCxnSpPr>
        <p:spPr>
          <a:xfrm flipH="1">
            <a:off x="1747520" y="5577840"/>
            <a:ext cx="92456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3F90423C-F938-5FD5-1EC7-956391E871BD}"/>
              </a:ext>
            </a:extLst>
          </p:cNvPr>
          <p:cNvCxnSpPr>
            <a:cxnSpLocks/>
          </p:cNvCxnSpPr>
          <p:nvPr/>
        </p:nvCxnSpPr>
        <p:spPr>
          <a:xfrm flipH="1">
            <a:off x="8940800" y="4155440"/>
            <a:ext cx="92456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F093EFF3-2CE6-0F46-EF0D-DB567A059483}"/>
              </a:ext>
            </a:extLst>
          </p:cNvPr>
          <p:cNvCxnSpPr>
            <a:cxnSpLocks/>
          </p:cNvCxnSpPr>
          <p:nvPr/>
        </p:nvCxnSpPr>
        <p:spPr>
          <a:xfrm flipH="1">
            <a:off x="16134080" y="2733040"/>
            <a:ext cx="92456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9208603E-A7ED-D9DB-EC84-4C72559526AF}"/>
              </a:ext>
            </a:extLst>
          </p:cNvPr>
          <p:cNvCxnSpPr/>
          <p:nvPr/>
        </p:nvCxnSpPr>
        <p:spPr>
          <a:xfrm>
            <a:off x="8950960" y="4876800"/>
            <a:ext cx="100584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471DBCD8-B9D6-2FAE-7E64-680650AC175A}"/>
              </a:ext>
            </a:extLst>
          </p:cNvPr>
          <p:cNvCxnSpPr/>
          <p:nvPr/>
        </p:nvCxnSpPr>
        <p:spPr>
          <a:xfrm>
            <a:off x="8930640" y="5547360"/>
            <a:ext cx="100584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5F85D7E2-AD79-9749-B384-0D9FB51192E4}"/>
              </a:ext>
            </a:extLst>
          </p:cNvPr>
          <p:cNvCxnSpPr>
            <a:cxnSpLocks/>
          </p:cNvCxnSpPr>
          <p:nvPr/>
        </p:nvCxnSpPr>
        <p:spPr>
          <a:xfrm flipV="1">
            <a:off x="5019040" y="6065520"/>
            <a:ext cx="0" cy="37592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28270A5F-4F55-4FEF-F27D-6D7C7FB649D4}"/>
              </a:ext>
            </a:extLst>
          </p:cNvPr>
          <p:cNvCxnSpPr>
            <a:cxnSpLocks/>
          </p:cNvCxnSpPr>
          <p:nvPr/>
        </p:nvCxnSpPr>
        <p:spPr>
          <a:xfrm flipV="1">
            <a:off x="6350000" y="6055360"/>
            <a:ext cx="0" cy="37592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367B9AF8-C009-643A-90A4-7131D03E6034}"/>
              </a:ext>
            </a:extLst>
          </p:cNvPr>
          <p:cNvCxnSpPr>
            <a:cxnSpLocks/>
          </p:cNvCxnSpPr>
          <p:nvPr/>
        </p:nvCxnSpPr>
        <p:spPr>
          <a:xfrm flipV="1">
            <a:off x="3525520" y="5232400"/>
            <a:ext cx="0" cy="37592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D5759155-A5A9-1918-2A73-817E38775ED4}"/>
              </a:ext>
            </a:extLst>
          </p:cNvPr>
          <p:cNvCxnSpPr>
            <a:cxnSpLocks/>
          </p:cNvCxnSpPr>
          <p:nvPr/>
        </p:nvCxnSpPr>
        <p:spPr>
          <a:xfrm>
            <a:off x="3505200" y="4145280"/>
            <a:ext cx="0" cy="34544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ED602C1D-8520-D80B-F6CD-7CB13B94073A}"/>
              </a:ext>
            </a:extLst>
          </p:cNvPr>
          <p:cNvSpPr txBox="1"/>
          <p:nvPr/>
        </p:nvSpPr>
        <p:spPr>
          <a:xfrm>
            <a:off x="751840" y="3901440"/>
            <a:ext cx="1270000" cy="400110"/>
          </a:xfrm>
          <a:prstGeom prst="rect">
            <a:avLst/>
          </a:prstGeom>
          <a:noFill/>
        </p:spPr>
        <p:txBody>
          <a:bodyPr wrap="square" rtlCol="0">
            <a:spAutoFit/>
          </a:bodyPr>
          <a:lstStyle/>
          <a:p>
            <a:r>
              <a:rPr lang="en-IN" sz="2000" b="1" dirty="0" err="1"/>
              <a:t>wr_en</a:t>
            </a:r>
            <a:endParaRPr lang="en-IN" sz="2000" b="1" dirty="0"/>
          </a:p>
        </p:txBody>
      </p:sp>
      <p:sp>
        <p:nvSpPr>
          <p:cNvPr id="31" name="TextBox 30">
            <a:extLst>
              <a:ext uri="{FF2B5EF4-FFF2-40B4-BE49-F238E27FC236}">
                <a16:creationId xmlns:a16="http://schemas.microsoft.com/office/drawing/2014/main" id="{CA75ED36-79A5-56A5-9170-A2953D288630}"/>
              </a:ext>
            </a:extLst>
          </p:cNvPr>
          <p:cNvSpPr txBox="1"/>
          <p:nvPr/>
        </p:nvSpPr>
        <p:spPr>
          <a:xfrm>
            <a:off x="640080" y="4511040"/>
            <a:ext cx="1270000" cy="400110"/>
          </a:xfrm>
          <a:prstGeom prst="rect">
            <a:avLst/>
          </a:prstGeom>
          <a:noFill/>
        </p:spPr>
        <p:txBody>
          <a:bodyPr wrap="square" rtlCol="0">
            <a:spAutoFit/>
          </a:bodyPr>
          <a:lstStyle/>
          <a:p>
            <a:r>
              <a:rPr lang="en-IN" sz="2000" b="1" dirty="0" err="1"/>
              <a:t>Data_in</a:t>
            </a:r>
            <a:endParaRPr lang="en-IN" sz="2000" b="1" dirty="0"/>
          </a:p>
        </p:txBody>
      </p:sp>
      <p:sp>
        <p:nvSpPr>
          <p:cNvPr id="32" name="TextBox 31">
            <a:extLst>
              <a:ext uri="{FF2B5EF4-FFF2-40B4-BE49-F238E27FC236}">
                <a16:creationId xmlns:a16="http://schemas.microsoft.com/office/drawing/2014/main" id="{9A62F6EE-EF52-9217-0230-2CED82540BE5}"/>
              </a:ext>
            </a:extLst>
          </p:cNvPr>
          <p:cNvSpPr txBox="1"/>
          <p:nvPr/>
        </p:nvSpPr>
        <p:spPr>
          <a:xfrm>
            <a:off x="985520" y="5364480"/>
            <a:ext cx="1270000" cy="400110"/>
          </a:xfrm>
          <a:prstGeom prst="rect">
            <a:avLst/>
          </a:prstGeom>
          <a:noFill/>
        </p:spPr>
        <p:txBody>
          <a:bodyPr wrap="square" rtlCol="0">
            <a:spAutoFit/>
          </a:bodyPr>
          <a:lstStyle/>
          <a:p>
            <a:r>
              <a:rPr lang="en-IN" sz="2000" b="1" dirty="0"/>
              <a:t>Full</a:t>
            </a:r>
          </a:p>
        </p:txBody>
      </p:sp>
      <p:sp>
        <p:nvSpPr>
          <p:cNvPr id="33" name="TextBox 32">
            <a:extLst>
              <a:ext uri="{FF2B5EF4-FFF2-40B4-BE49-F238E27FC236}">
                <a16:creationId xmlns:a16="http://schemas.microsoft.com/office/drawing/2014/main" id="{34EAD4A9-31D6-DA4D-373E-51AF917A8DB9}"/>
              </a:ext>
            </a:extLst>
          </p:cNvPr>
          <p:cNvSpPr txBox="1"/>
          <p:nvPr/>
        </p:nvSpPr>
        <p:spPr>
          <a:xfrm>
            <a:off x="3606800" y="3860800"/>
            <a:ext cx="1270000" cy="400110"/>
          </a:xfrm>
          <a:prstGeom prst="rect">
            <a:avLst/>
          </a:prstGeom>
          <a:noFill/>
        </p:spPr>
        <p:txBody>
          <a:bodyPr wrap="square" rtlCol="0">
            <a:spAutoFit/>
          </a:bodyPr>
          <a:lstStyle/>
          <a:p>
            <a:r>
              <a:rPr lang="en-IN" sz="2000" b="1" dirty="0" err="1"/>
              <a:t>wr_ptr</a:t>
            </a:r>
            <a:endParaRPr lang="en-IN" sz="2000" b="1" dirty="0"/>
          </a:p>
        </p:txBody>
      </p:sp>
      <p:sp>
        <p:nvSpPr>
          <p:cNvPr id="34" name="TextBox 33">
            <a:extLst>
              <a:ext uri="{FF2B5EF4-FFF2-40B4-BE49-F238E27FC236}">
                <a16:creationId xmlns:a16="http://schemas.microsoft.com/office/drawing/2014/main" id="{91BDECB7-7A9B-ADE1-AF3F-9D847505B4DC}"/>
              </a:ext>
            </a:extLst>
          </p:cNvPr>
          <p:cNvSpPr txBox="1"/>
          <p:nvPr/>
        </p:nvSpPr>
        <p:spPr>
          <a:xfrm>
            <a:off x="3637280" y="5506720"/>
            <a:ext cx="1270000" cy="400110"/>
          </a:xfrm>
          <a:prstGeom prst="rect">
            <a:avLst/>
          </a:prstGeom>
          <a:noFill/>
        </p:spPr>
        <p:txBody>
          <a:bodyPr wrap="square" rtlCol="0">
            <a:spAutoFit/>
          </a:bodyPr>
          <a:lstStyle/>
          <a:p>
            <a:r>
              <a:rPr lang="en-IN" sz="2000" b="1" dirty="0" err="1"/>
              <a:t>rd_ptr</a:t>
            </a:r>
            <a:endParaRPr lang="en-IN" sz="2000" b="1" dirty="0"/>
          </a:p>
        </p:txBody>
      </p:sp>
      <p:sp>
        <p:nvSpPr>
          <p:cNvPr id="35" name="TextBox 34">
            <a:extLst>
              <a:ext uri="{FF2B5EF4-FFF2-40B4-BE49-F238E27FC236}">
                <a16:creationId xmlns:a16="http://schemas.microsoft.com/office/drawing/2014/main" id="{886E880B-A47B-4C04-5C94-C6FAA81118D3}"/>
              </a:ext>
            </a:extLst>
          </p:cNvPr>
          <p:cNvSpPr txBox="1"/>
          <p:nvPr/>
        </p:nvSpPr>
        <p:spPr>
          <a:xfrm>
            <a:off x="4328160" y="6238240"/>
            <a:ext cx="1270000" cy="400110"/>
          </a:xfrm>
          <a:prstGeom prst="rect">
            <a:avLst/>
          </a:prstGeom>
          <a:noFill/>
        </p:spPr>
        <p:txBody>
          <a:bodyPr wrap="square" rtlCol="0">
            <a:spAutoFit/>
          </a:bodyPr>
          <a:lstStyle/>
          <a:p>
            <a:r>
              <a:rPr lang="en-IN" sz="2000" b="1" dirty="0" err="1"/>
              <a:t>clk</a:t>
            </a:r>
            <a:endParaRPr lang="en-IN" sz="2000" b="1" dirty="0"/>
          </a:p>
        </p:txBody>
      </p:sp>
      <p:sp>
        <p:nvSpPr>
          <p:cNvPr id="36" name="TextBox 35">
            <a:extLst>
              <a:ext uri="{FF2B5EF4-FFF2-40B4-BE49-F238E27FC236}">
                <a16:creationId xmlns:a16="http://schemas.microsoft.com/office/drawing/2014/main" id="{17C0F127-8B9E-0962-26EC-A44CC0B03427}"/>
              </a:ext>
            </a:extLst>
          </p:cNvPr>
          <p:cNvSpPr txBox="1"/>
          <p:nvPr/>
        </p:nvSpPr>
        <p:spPr>
          <a:xfrm>
            <a:off x="6522720" y="6258560"/>
            <a:ext cx="1270000" cy="400110"/>
          </a:xfrm>
          <a:prstGeom prst="rect">
            <a:avLst/>
          </a:prstGeom>
          <a:noFill/>
        </p:spPr>
        <p:txBody>
          <a:bodyPr wrap="square" rtlCol="0">
            <a:spAutoFit/>
          </a:bodyPr>
          <a:lstStyle/>
          <a:p>
            <a:r>
              <a:rPr lang="en-IN" sz="2000" b="1" dirty="0" err="1"/>
              <a:t>rst</a:t>
            </a:r>
            <a:endParaRPr lang="en-IN" sz="2000" b="1" dirty="0"/>
          </a:p>
        </p:txBody>
      </p:sp>
      <p:sp>
        <p:nvSpPr>
          <p:cNvPr id="37" name="TextBox 36">
            <a:extLst>
              <a:ext uri="{FF2B5EF4-FFF2-40B4-BE49-F238E27FC236}">
                <a16:creationId xmlns:a16="http://schemas.microsoft.com/office/drawing/2014/main" id="{DD7A9B12-DCD5-B1D2-E7E1-23F98DCE2A70}"/>
              </a:ext>
            </a:extLst>
          </p:cNvPr>
          <p:cNvSpPr txBox="1"/>
          <p:nvPr/>
        </p:nvSpPr>
        <p:spPr>
          <a:xfrm>
            <a:off x="9936480" y="3901440"/>
            <a:ext cx="1270000" cy="400110"/>
          </a:xfrm>
          <a:prstGeom prst="rect">
            <a:avLst/>
          </a:prstGeom>
          <a:noFill/>
        </p:spPr>
        <p:txBody>
          <a:bodyPr wrap="square" rtlCol="0">
            <a:spAutoFit/>
          </a:bodyPr>
          <a:lstStyle/>
          <a:p>
            <a:r>
              <a:rPr lang="en-IN" sz="2000" b="1" dirty="0" err="1"/>
              <a:t>rd_en</a:t>
            </a:r>
            <a:endParaRPr lang="en-IN" sz="2000" b="1" dirty="0"/>
          </a:p>
        </p:txBody>
      </p:sp>
      <p:sp>
        <p:nvSpPr>
          <p:cNvPr id="38" name="TextBox 37">
            <a:extLst>
              <a:ext uri="{FF2B5EF4-FFF2-40B4-BE49-F238E27FC236}">
                <a16:creationId xmlns:a16="http://schemas.microsoft.com/office/drawing/2014/main" id="{04306E62-9301-B8E5-DD76-E1E753E81F61}"/>
              </a:ext>
            </a:extLst>
          </p:cNvPr>
          <p:cNvSpPr txBox="1"/>
          <p:nvPr/>
        </p:nvSpPr>
        <p:spPr>
          <a:xfrm>
            <a:off x="9987280" y="4663440"/>
            <a:ext cx="1270000" cy="400110"/>
          </a:xfrm>
          <a:prstGeom prst="rect">
            <a:avLst/>
          </a:prstGeom>
          <a:noFill/>
        </p:spPr>
        <p:txBody>
          <a:bodyPr wrap="square" rtlCol="0">
            <a:spAutoFit/>
          </a:bodyPr>
          <a:lstStyle/>
          <a:p>
            <a:r>
              <a:rPr lang="en-IN" sz="2000" b="1" dirty="0" err="1"/>
              <a:t>Data_out</a:t>
            </a:r>
            <a:endParaRPr lang="en-IN" sz="2000" b="1" dirty="0"/>
          </a:p>
        </p:txBody>
      </p:sp>
      <p:sp>
        <p:nvSpPr>
          <p:cNvPr id="39" name="TextBox 38">
            <a:extLst>
              <a:ext uri="{FF2B5EF4-FFF2-40B4-BE49-F238E27FC236}">
                <a16:creationId xmlns:a16="http://schemas.microsoft.com/office/drawing/2014/main" id="{72EB6A6E-D058-D250-1FD1-1AC6F6FEC9A5}"/>
              </a:ext>
            </a:extLst>
          </p:cNvPr>
          <p:cNvSpPr txBox="1"/>
          <p:nvPr/>
        </p:nvSpPr>
        <p:spPr>
          <a:xfrm>
            <a:off x="9997440" y="5415280"/>
            <a:ext cx="1270000" cy="400110"/>
          </a:xfrm>
          <a:prstGeom prst="rect">
            <a:avLst/>
          </a:prstGeom>
          <a:noFill/>
        </p:spPr>
        <p:txBody>
          <a:bodyPr wrap="square" rtlCol="0">
            <a:spAutoFit/>
          </a:bodyPr>
          <a:lstStyle/>
          <a:p>
            <a:r>
              <a:rPr lang="en-IN" sz="2000" b="1" dirty="0"/>
              <a:t>Empty</a:t>
            </a:r>
          </a:p>
        </p:txBody>
      </p:sp>
      <p:sp>
        <p:nvSpPr>
          <p:cNvPr id="42" name="TextBox 41">
            <a:extLst>
              <a:ext uri="{FF2B5EF4-FFF2-40B4-BE49-F238E27FC236}">
                <a16:creationId xmlns:a16="http://schemas.microsoft.com/office/drawing/2014/main" id="{7A4DFF9A-5A24-C2E6-7A81-EA0EBC080BB1}"/>
              </a:ext>
            </a:extLst>
          </p:cNvPr>
          <p:cNvSpPr txBox="1"/>
          <p:nvPr/>
        </p:nvSpPr>
        <p:spPr>
          <a:xfrm>
            <a:off x="5547360" y="5642898"/>
            <a:ext cx="3942080" cy="400110"/>
          </a:xfrm>
          <a:prstGeom prst="rect">
            <a:avLst/>
          </a:prstGeom>
          <a:noFill/>
        </p:spPr>
        <p:txBody>
          <a:bodyPr wrap="square" rtlCol="0">
            <a:spAutoFit/>
          </a:bodyPr>
          <a:lstStyle/>
          <a:p>
            <a:r>
              <a:rPr lang="en-IN" sz="2000" b="1" dirty="0">
                <a:solidFill>
                  <a:srgbClr val="FF0000"/>
                </a:solidFill>
              </a:rPr>
              <a:t>Block Diagram Of Input Buffer</a:t>
            </a:r>
          </a:p>
        </p:txBody>
      </p:sp>
      <p:sp>
        <p:nvSpPr>
          <p:cNvPr id="3" name="TextBox 2">
            <a:extLst>
              <a:ext uri="{FF2B5EF4-FFF2-40B4-BE49-F238E27FC236}">
                <a16:creationId xmlns:a16="http://schemas.microsoft.com/office/drawing/2014/main" id="{ED113CE9-D7A3-802D-DDB6-0D4BAD887FA8}"/>
              </a:ext>
            </a:extLst>
          </p:cNvPr>
          <p:cNvSpPr txBox="1"/>
          <p:nvPr/>
        </p:nvSpPr>
        <p:spPr>
          <a:xfrm>
            <a:off x="901995" y="1467294"/>
            <a:ext cx="10388009" cy="1846659"/>
          </a:xfrm>
          <a:prstGeom prst="rect">
            <a:avLst/>
          </a:prstGeom>
          <a:noFill/>
        </p:spPr>
        <p:txBody>
          <a:bodyPr wrap="square" rtlCol="0">
            <a:spAutoFit/>
          </a:bodyPr>
          <a:lstStyle/>
          <a:p>
            <a:r>
              <a:rPr lang="en-US" sz="2400" b="1" dirty="0"/>
              <a:t>Input Stream Buffer Implementation</a:t>
            </a:r>
          </a:p>
          <a:p>
            <a:r>
              <a:rPr lang="en-US" b="1" dirty="0"/>
              <a:t>	</a:t>
            </a:r>
            <a:r>
              <a:rPr lang="en-US" dirty="0"/>
              <a:t>Temporarily stores input data received from the host before compression, enabling pipelined access for downstream modules.</a:t>
            </a:r>
          </a:p>
          <a:p>
            <a:pPr marL="285750" indent="-285750">
              <a:buFont typeface="Arial" panose="020B0604020202020204" pitchFamily="34" charset="0"/>
              <a:buChar char="•"/>
            </a:pPr>
            <a:r>
              <a:rPr lang="en-US" dirty="0"/>
              <a:t>Design a </a:t>
            </a:r>
            <a:r>
              <a:rPr lang="en-US" b="1" dirty="0"/>
              <a:t>FIFO buffer </a:t>
            </a:r>
            <a:r>
              <a:rPr lang="en-US" dirty="0"/>
              <a:t>(register array or RAM block), sized to match </a:t>
            </a:r>
            <a:r>
              <a:rPr lang="en-US" b="1" dirty="0"/>
              <a:t>lookahead window </a:t>
            </a:r>
            <a:r>
              <a:rPr lang="en-US" dirty="0"/>
              <a:t>length.</a:t>
            </a:r>
          </a:p>
          <a:p>
            <a:pPr marL="285750" indent="-285750">
              <a:buFont typeface="Arial" panose="020B0604020202020204" pitchFamily="34" charset="0"/>
              <a:buChar char="•"/>
            </a:pPr>
            <a:r>
              <a:rPr lang="en-US" dirty="0"/>
              <a:t>Use two pointers (read/write) to manage incoming data and supply data to the </a:t>
            </a:r>
            <a:r>
              <a:rPr lang="en-US" b="1" dirty="0"/>
              <a:t>DMU and comparators</a:t>
            </a:r>
            <a:r>
              <a:rPr lang="en-US" dirty="0"/>
              <a:t>.</a:t>
            </a:r>
          </a:p>
          <a:p>
            <a:pPr marL="285750" indent="-285750">
              <a:buFont typeface="Arial" panose="020B0604020202020204" pitchFamily="34" charset="0"/>
              <a:buChar char="•"/>
            </a:pPr>
            <a:r>
              <a:rPr lang="en-US" dirty="0"/>
              <a:t>Implement logic to prefetch data from host/memory and signal when enough data is available</a:t>
            </a:r>
            <a:endParaRPr lang="en-IN" dirty="0"/>
          </a:p>
        </p:txBody>
      </p:sp>
    </p:spTree>
    <p:extLst>
      <p:ext uri="{BB962C8B-B14F-4D97-AF65-F5344CB8AC3E}">
        <p14:creationId xmlns:p14="http://schemas.microsoft.com/office/powerpoint/2010/main" val="1125235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B848-F648-1EFC-E2EB-33C47F76AC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2A8695-1232-A2CE-0435-B81AF2DBB77C}"/>
              </a:ext>
            </a:extLst>
          </p:cNvPr>
          <p:cNvPicPr>
            <a:picLocks noChangeAspect="1"/>
          </p:cNvPicPr>
          <p:nvPr/>
        </p:nvPicPr>
        <p:blipFill>
          <a:blip r:embed="rId2"/>
          <a:stretch>
            <a:fillRect/>
          </a:stretch>
        </p:blipFill>
        <p:spPr>
          <a:xfrm>
            <a:off x="757661" y="3465513"/>
            <a:ext cx="10758875" cy="1113592"/>
          </a:xfrm>
          <a:prstGeom prst="rect">
            <a:avLst/>
          </a:prstGeom>
        </p:spPr>
      </p:pic>
      <p:pic>
        <p:nvPicPr>
          <p:cNvPr id="10" name="Picture 9">
            <a:extLst>
              <a:ext uri="{FF2B5EF4-FFF2-40B4-BE49-F238E27FC236}">
                <a16:creationId xmlns:a16="http://schemas.microsoft.com/office/drawing/2014/main" id="{15A91891-62E8-467E-AA80-BC35417AEDC8}"/>
              </a:ext>
            </a:extLst>
          </p:cNvPr>
          <p:cNvPicPr>
            <a:picLocks noChangeAspect="1"/>
          </p:cNvPicPr>
          <p:nvPr/>
        </p:nvPicPr>
        <p:blipFill>
          <a:blip r:embed="rId3"/>
          <a:stretch>
            <a:fillRect/>
          </a:stretch>
        </p:blipFill>
        <p:spPr>
          <a:xfrm>
            <a:off x="843891" y="1725491"/>
            <a:ext cx="494695" cy="483452"/>
          </a:xfrm>
          <a:prstGeom prst="rect">
            <a:avLst/>
          </a:prstGeom>
        </p:spPr>
      </p:pic>
      <p:pic>
        <p:nvPicPr>
          <p:cNvPr id="12" name="Picture 11">
            <a:extLst>
              <a:ext uri="{FF2B5EF4-FFF2-40B4-BE49-F238E27FC236}">
                <a16:creationId xmlns:a16="http://schemas.microsoft.com/office/drawing/2014/main" id="{DC11182C-A430-10D7-B993-79DAB8DC1715}"/>
              </a:ext>
            </a:extLst>
          </p:cNvPr>
          <p:cNvPicPr>
            <a:picLocks noChangeAspect="1"/>
          </p:cNvPicPr>
          <p:nvPr/>
        </p:nvPicPr>
        <p:blipFill>
          <a:blip r:embed="rId4"/>
          <a:stretch>
            <a:fillRect/>
          </a:stretch>
        </p:blipFill>
        <p:spPr>
          <a:xfrm>
            <a:off x="848932" y="2362017"/>
            <a:ext cx="486709" cy="470210"/>
          </a:xfrm>
          <a:prstGeom prst="rect">
            <a:avLst/>
          </a:prstGeom>
        </p:spPr>
      </p:pic>
      <p:sp>
        <p:nvSpPr>
          <p:cNvPr id="13" name="TextBox 12">
            <a:extLst>
              <a:ext uri="{FF2B5EF4-FFF2-40B4-BE49-F238E27FC236}">
                <a16:creationId xmlns:a16="http://schemas.microsoft.com/office/drawing/2014/main" id="{42E346BC-8A4B-59D1-61B3-F422F34112C5}"/>
              </a:ext>
            </a:extLst>
          </p:cNvPr>
          <p:cNvSpPr txBox="1"/>
          <p:nvPr/>
        </p:nvSpPr>
        <p:spPr>
          <a:xfrm>
            <a:off x="1366463" y="1767155"/>
            <a:ext cx="3667874" cy="369332"/>
          </a:xfrm>
          <a:prstGeom prst="rect">
            <a:avLst/>
          </a:prstGeom>
          <a:noFill/>
        </p:spPr>
        <p:txBody>
          <a:bodyPr wrap="square" rtlCol="0">
            <a:spAutoFit/>
          </a:bodyPr>
          <a:lstStyle/>
          <a:p>
            <a:r>
              <a:rPr lang="en-IN" b="1" dirty="0"/>
              <a:t>SEARCH WINDOW                SIZE (7)</a:t>
            </a:r>
          </a:p>
        </p:txBody>
      </p:sp>
      <p:sp>
        <p:nvSpPr>
          <p:cNvPr id="14" name="TextBox 13">
            <a:extLst>
              <a:ext uri="{FF2B5EF4-FFF2-40B4-BE49-F238E27FC236}">
                <a16:creationId xmlns:a16="http://schemas.microsoft.com/office/drawing/2014/main" id="{510F475F-5100-100A-79BC-9308983D97A9}"/>
              </a:ext>
            </a:extLst>
          </p:cNvPr>
          <p:cNvSpPr txBox="1"/>
          <p:nvPr/>
        </p:nvSpPr>
        <p:spPr>
          <a:xfrm>
            <a:off x="1375025" y="2412715"/>
            <a:ext cx="3667874" cy="369332"/>
          </a:xfrm>
          <a:prstGeom prst="rect">
            <a:avLst/>
          </a:prstGeom>
          <a:noFill/>
        </p:spPr>
        <p:txBody>
          <a:bodyPr wrap="square" rtlCol="0">
            <a:spAutoFit/>
          </a:bodyPr>
          <a:lstStyle/>
          <a:p>
            <a:r>
              <a:rPr lang="en-IN" b="1" dirty="0"/>
              <a:t>LOOKAHEAD WINDOW         SIZE (6)</a:t>
            </a:r>
          </a:p>
        </p:txBody>
      </p:sp>
      <p:sp>
        <p:nvSpPr>
          <p:cNvPr id="15" name="Arrow: Striped Right 14">
            <a:extLst>
              <a:ext uri="{FF2B5EF4-FFF2-40B4-BE49-F238E27FC236}">
                <a16:creationId xmlns:a16="http://schemas.microsoft.com/office/drawing/2014/main" id="{0CC5E26E-B477-ECF9-E2E7-A0658DB9EF67}"/>
              </a:ext>
            </a:extLst>
          </p:cNvPr>
          <p:cNvSpPr/>
          <p:nvPr/>
        </p:nvSpPr>
        <p:spPr>
          <a:xfrm>
            <a:off x="5270642" y="1962364"/>
            <a:ext cx="1078786" cy="523982"/>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63A107C7-C078-CAB8-84B8-12BA0536F90A}"/>
              </a:ext>
            </a:extLst>
          </p:cNvPr>
          <p:cNvSpPr txBox="1"/>
          <p:nvPr/>
        </p:nvSpPr>
        <p:spPr>
          <a:xfrm>
            <a:off x="6767245" y="1928117"/>
            <a:ext cx="4503505" cy="523220"/>
          </a:xfrm>
          <a:prstGeom prst="rect">
            <a:avLst/>
          </a:prstGeom>
          <a:noFill/>
        </p:spPr>
        <p:txBody>
          <a:bodyPr wrap="square" rtlCol="0">
            <a:spAutoFit/>
          </a:bodyPr>
          <a:lstStyle/>
          <a:p>
            <a:r>
              <a:rPr lang="en-IN" sz="2800" dirty="0">
                <a:ln w="0"/>
                <a:effectLst>
                  <a:outerShdw blurRad="38100" dist="19050" dir="2700000" algn="tl" rotWithShape="0">
                    <a:schemeClr val="dk1">
                      <a:alpha val="40000"/>
                    </a:schemeClr>
                  </a:outerShdw>
                </a:effectLst>
              </a:rPr>
              <a:t>SLIDING WINDOW       </a:t>
            </a:r>
            <a:r>
              <a:rPr lang="en-IN" b="1" dirty="0">
                <a:solidFill>
                  <a:srgbClr val="002060"/>
                </a:solidFill>
              </a:rPr>
              <a:t>SIZE (13)</a:t>
            </a:r>
            <a:endParaRPr lang="en-IN" dirty="0">
              <a:ln w="0"/>
              <a:solidFill>
                <a:srgbClr val="002060"/>
              </a:solidFill>
              <a:effectLst>
                <a:outerShdw blurRad="38100" dist="19050" dir="2700000" algn="tl" rotWithShape="0">
                  <a:schemeClr val="dk1">
                    <a:alpha val="40000"/>
                  </a:schemeClr>
                </a:outerShdw>
              </a:effectLst>
            </a:endParaRPr>
          </a:p>
        </p:txBody>
      </p:sp>
      <p:sp>
        <p:nvSpPr>
          <p:cNvPr id="17" name="Title 1">
            <a:extLst>
              <a:ext uri="{FF2B5EF4-FFF2-40B4-BE49-F238E27FC236}">
                <a16:creationId xmlns:a16="http://schemas.microsoft.com/office/drawing/2014/main" id="{4BFB7837-4620-FF7A-2523-06BF75131C8D}"/>
              </a:ext>
            </a:extLst>
          </p:cNvPr>
          <p:cNvSpPr>
            <a:spLocks noGrp="1"/>
          </p:cNvSpPr>
          <p:nvPr>
            <p:ph type="title"/>
          </p:nvPr>
        </p:nvSpPr>
        <p:spPr>
          <a:xfrm>
            <a:off x="613974" y="-82193"/>
            <a:ext cx="10515600" cy="1325563"/>
          </a:xfrm>
        </p:spPr>
        <p:txBody>
          <a:bodyPr/>
          <a:lstStyle/>
          <a:p>
            <a:r>
              <a:rPr lang="en-US" dirty="0">
                <a:latin typeface="Times New Roman" panose="02020603050405020304" pitchFamily="18" charset="0"/>
                <a:cs typeface="Times New Roman" panose="02020603050405020304" pitchFamily="18" charset="0"/>
              </a:rPr>
              <a:t>Methodology – LZ77 Algorithm</a:t>
            </a:r>
          </a:p>
        </p:txBody>
      </p:sp>
      <p:sp>
        <p:nvSpPr>
          <p:cNvPr id="18" name="Rectangle 17">
            <a:extLst>
              <a:ext uri="{FF2B5EF4-FFF2-40B4-BE49-F238E27FC236}">
                <a16:creationId xmlns:a16="http://schemas.microsoft.com/office/drawing/2014/main" id="{A229FBBE-1B59-CAD8-B22A-DFEFAC841947}"/>
              </a:ext>
            </a:extLst>
          </p:cNvPr>
          <p:cNvSpPr/>
          <p:nvPr/>
        </p:nvSpPr>
        <p:spPr>
          <a:xfrm>
            <a:off x="55605" y="994121"/>
            <a:ext cx="12080789" cy="4571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
        <p:nvSpPr>
          <p:cNvPr id="20" name="TextBox 19">
            <a:extLst>
              <a:ext uri="{FF2B5EF4-FFF2-40B4-BE49-F238E27FC236}">
                <a16:creationId xmlns:a16="http://schemas.microsoft.com/office/drawing/2014/main" id="{68B2A1E5-045A-7250-3798-94CA8D3F90EA}"/>
              </a:ext>
            </a:extLst>
          </p:cNvPr>
          <p:cNvSpPr txBox="1"/>
          <p:nvPr/>
        </p:nvSpPr>
        <p:spPr>
          <a:xfrm>
            <a:off x="1559103" y="6020925"/>
            <a:ext cx="6097712" cy="369332"/>
          </a:xfrm>
          <a:prstGeom prst="rect">
            <a:avLst/>
          </a:prstGeom>
          <a:noFill/>
        </p:spPr>
        <p:txBody>
          <a:bodyPr wrap="square">
            <a:spAutoFit/>
          </a:bodyPr>
          <a:lstStyle/>
          <a:p>
            <a:pPr marL="0" indent="0">
              <a:lnSpc>
                <a:spcPct val="100000"/>
              </a:lnSpc>
              <a:buNone/>
            </a:pPr>
            <a:r>
              <a:rPr lang="en-IN" sz="1800" b="1" dirty="0"/>
              <a:t>Tuple/Triplet </a:t>
            </a:r>
            <a:r>
              <a:rPr lang="en-IN" sz="1800" b="1" dirty="0">
                <a:solidFill>
                  <a:srgbClr val="FF0000"/>
                </a:solidFill>
              </a:rPr>
              <a:t>&lt;OFFSET,LENGTH,NEXT&gt; </a:t>
            </a:r>
            <a:endParaRPr lang="en-US" sz="1800" dirty="0"/>
          </a:p>
        </p:txBody>
      </p:sp>
      <p:sp>
        <p:nvSpPr>
          <p:cNvPr id="21" name="TextBox 20">
            <a:extLst>
              <a:ext uri="{FF2B5EF4-FFF2-40B4-BE49-F238E27FC236}">
                <a16:creationId xmlns:a16="http://schemas.microsoft.com/office/drawing/2014/main" id="{8939843C-D378-5BEB-C502-A918009062CC}"/>
              </a:ext>
            </a:extLst>
          </p:cNvPr>
          <p:cNvSpPr txBox="1"/>
          <p:nvPr/>
        </p:nvSpPr>
        <p:spPr>
          <a:xfrm>
            <a:off x="-113013" y="3729519"/>
            <a:ext cx="12483100" cy="523220"/>
          </a:xfrm>
          <a:prstGeom prst="rect">
            <a:avLst/>
          </a:prstGeom>
          <a:noFill/>
        </p:spPr>
        <p:txBody>
          <a:bodyPr wrap="square" rtlCol="0">
            <a:spAutoFit/>
          </a:bodyPr>
          <a:lstStyle/>
          <a:p>
            <a:r>
              <a:rPr lang="en-IN" sz="2800" b="1" dirty="0"/>
              <a:t> …BA      X       A        B       R       A       C        A       D       A       B       R       A      R       </a:t>
            </a:r>
            <a:r>
              <a:rPr lang="en-IN" sz="2800" b="1" dirty="0" err="1"/>
              <a:t>R</a:t>
            </a:r>
            <a:r>
              <a:rPr lang="en-IN" sz="2800" b="1" dirty="0"/>
              <a:t> A …</a:t>
            </a:r>
          </a:p>
        </p:txBody>
      </p:sp>
      <p:sp>
        <p:nvSpPr>
          <p:cNvPr id="22" name="Arrow: Curved Right 21">
            <a:extLst>
              <a:ext uri="{FF2B5EF4-FFF2-40B4-BE49-F238E27FC236}">
                <a16:creationId xmlns:a16="http://schemas.microsoft.com/office/drawing/2014/main" id="{9231721D-A2C3-82C5-393D-5083411D12B0}"/>
              </a:ext>
            </a:extLst>
          </p:cNvPr>
          <p:cNvSpPr/>
          <p:nvPr/>
        </p:nvSpPr>
        <p:spPr>
          <a:xfrm rot="1113286" flipH="1">
            <a:off x="11034443" y="4541176"/>
            <a:ext cx="688367" cy="143838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7" name="Arrow: Curved Right 26">
            <a:extLst>
              <a:ext uri="{FF2B5EF4-FFF2-40B4-BE49-F238E27FC236}">
                <a16:creationId xmlns:a16="http://schemas.microsoft.com/office/drawing/2014/main" id="{6F96B830-97D4-70B3-0AEB-81EA5EEE1567}"/>
              </a:ext>
            </a:extLst>
          </p:cNvPr>
          <p:cNvSpPr/>
          <p:nvPr/>
        </p:nvSpPr>
        <p:spPr>
          <a:xfrm rot="19880623">
            <a:off x="457648" y="4611384"/>
            <a:ext cx="647272" cy="143838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TextBox 27">
            <a:extLst>
              <a:ext uri="{FF2B5EF4-FFF2-40B4-BE49-F238E27FC236}">
                <a16:creationId xmlns:a16="http://schemas.microsoft.com/office/drawing/2014/main" id="{4453D1BA-DFEE-4210-86E4-1AC71C4514B0}"/>
              </a:ext>
            </a:extLst>
          </p:cNvPr>
          <p:cNvSpPr txBox="1"/>
          <p:nvPr/>
        </p:nvSpPr>
        <p:spPr>
          <a:xfrm>
            <a:off x="7383694" y="4496655"/>
            <a:ext cx="3342526" cy="369332"/>
          </a:xfrm>
          <a:prstGeom prst="rect">
            <a:avLst/>
          </a:prstGeom>
          <a:noFill/>
        </p:spPr>
        <p:txBody>
          <a:bodyPr wrap="square" rtlCol="0">
            <a:spAutoFit/>
          </a:bodyPr>
          <a:lstStyle/>
          <a:p>
            <a:r>
              <a:rPr lang="en-IN" b="1" dirty="0">
                <a:solidFill>
                  <a:srgbClr val="FF0000"/>
                </a:solidFill>
              </a:rPr>
              <a:t>LOOKAHEAD WINDOW (48 bits)       </a:t>
            </a:r>
          </a:p>
        </p:txBody>
      </p:sp>
      <p:sp>
        <p:nvSpPr>
          <p:cNvPr id="30" name="TextBox 29">
            <a:extLst>
              <a:ext uri="{FF2B5EF4-FFF2-40B4-BE49-F238E27FC236}">
                <a16:creationId xmlns:a16="http://schemas.microsoft.com/office/drawing/2014/main" id="{04FA4559-A1C5-4DDA-3C65-281D3A4EACF2}"/>
              </a:ext>
            </a:extLst>
          </p:cNvPr>
          <p:cNvSpPr txBox="1"/>
          <p:nvPr/>
        </p:nvSpPr>
        <p:spPr>
          <a:xfrm>
            <a:off x="2510320" y="4488094"/>
            <a:ext cx="2945258" cy="369332"/>
          </a:xfrm>
          <a:prstGeom prst="rect">
            <a:avLst/>
          </a:prstGeom>
          <a:noFill/>
        </p:spPr>
        <p:txBody>
          <a:bodyPr wrap="square" rtlCol="0">
            <a:spAutoFit/>
          </a:bodyPr>
          <a:lstStyle/>
          <a:p>
            <a:r>
              <a:rPr lang="en-IN" b="1" dirty="0"/>
              <a:t>SEARCH WINDOW (56 bits)                  </a:t>
            </a:r>
          </a:p>
        </p:txBody>
      </p:sp>
      <p:sp>
        <p:nvSpPr>
          <p:cNvPr id="32" name="TextBox 31">
            <a:extLst>
              <a:ext uri="{FF2B5EF4-FFF2-40B4-BE49-F238E27FC236}">
                <a16:creationId xmlns:a16="http://schemas.microsoft.com/office/drawing/2014/main" id="{3F771066-22C0-4F72-41A1-EB9FE4AFC54A}"/>
              </a:ext>
            </a:extLst>
          </p:cNvPr>
          <p:cNvSpPr txBox="1"/>
          <p:nvPr/>
        </p:nvSpPr>
        <p:spPr>
          <a:xfrm>
            <a:off x="1472629" y="5536059"/>
            <a:ext cx="1589070" cy="369332"/>
          </a:xfrm>
          <a:prstGeom prst="rect">
            <a:avLst/>
          </a:prstGeom>
          <a:noFill/>
        </p:spPr>
        <p:txBody>
          <a:bodyPr wrap="square" rtlCol="0">
            <a:spAutoFit/>
          </a:bodyPr>
          <a:lstStyle/>
          <a:p>
            <a:r>
              <a:rPr lang="en-IN" b="1" dirty="0"/>
              <a:t>Encoded Data</a:t>
            </a:r>
          </a:p>
        </p:txBody>
      </p:sp>
      <p:sp>
        <p:nvSpPr>
          <p:cNvPr id="34" name="TextBox 33">
            <a:extLst>
              <a:ext uri="{FF2B5EF4-FFF2-40B4-BE49-F238E27FC236}">
                <a16:creationId xmlns:a16="http://schemas.microsoft.com/office/drawing/2014/main" id="{7AFB408C-4847-1F8F-E058-0B70BCD6D98A}"/>
              </a:ext>
            </a:extLst>
          </p:cNvPr>
          <p:cNvSpPr txBox="1"/>
          <p:nvPr/>
        </p:nvSpPr>
        <p:spPr>
          <a:xfrm>
            <a:off x="9132014" y="5474414"/>
            <a:ext cx="1625029" cy="369332"/>
          </a:xfrm>
          <a:prstGeom prst="rect">
            <a:avLst/>
          </a:prstGeom>
          <a:noFill/>
        </p:spPr>
        <p:txBody>
          <a:bodyPr wrap="square" rtlCol="0">
            <a:spAutoFit/>
          </a:bodyPr>
          <a:lstStyle/>
          <a:p>
            <a:r>
              <a:rPr lang="en-IN" b="1" dirty="0"/>
              <a:t>Incoming Data</a:t>
            </a:r>
          </a:p>
        </p:txBody>
      </p:sp>
      <p:sp>
        <p:nvSpPr>
          <p:cNvPr id="37" name="TextBox 36">
            <a:extLst>
              <a:ext uri="{FF2B5EF4-FFF2-40B4-BE49-F238E27FC236}">
                <a16:creationId xmlns:a16="http://schemas.microsoft.com/office/drawing/2014/main" id="{D615923B-E063-372B-D380-53EA0363E03F}"/>
              </a:ext>
            </a:extLst>
          </p:cNvPr>
          <p:cNvSpPr txBox="1"/>
          <p:nvPr/>
        </p:nvSpPr>
        <p:spPr>
          <a:xfrm>
            <a:off x="489735" y="1156951"/>
            <a:ext cx="2229492" cy="461665"/>
          </a:xfrm>
          <a:prstGeom prst="rect">
            <a:avLst/>
          </a:prstGeom>
          <a:noFill/>
        </p:spPr>
        <p:txBody>
          <a:bodyPr wrap="square" rtlCol="0">
            <a:spAutoFit/>
          </a:bodyPr>
          <a:lstStyle/>
          <a:p>
            <a:r>
              <a:rPr lang="en-IN" sz="2400" b="1" dirty="0"/>
              <a:t>Encoding</a:t>
            </a:r>
          </a:p>
        </p:txBody>
      </p:sp>
      <p:sp>
        <p:nvSpPr>
          <p:cNvPr id="38" name="TextBox 37">
            <a:extLst>
              <a:ext uri="{FF2B5EF4-FFF2-40B4-BE49-F238E27FC236}">
                <a16:creationId xmlns:a16="http://schemas.microsoft.com/office/drawing/2014/main" id="{BA35F90A-0679-FC57-F871-563F58B77F71}"/>
              </a:ext>
            </a:extLst>
          </p:cNvPr>
          <p:cNvSpPr txBox="1"/>
          <p:nvPr/>
        </p:nvSpPr>
        <p:spPr>
          <a:xfrm>
            <a:off x="1022279" y="4586806"/>
            <a:ext cx="2229492" cy="400110"/>
          </a:xfrm>
          <a:prstGeom prst="rect">
            <a:avLst/>
          </a:prstGeom>
          <a:noFill/>
        </p:spPr>
        <p:txBody>
          <a:bodyPr wrap="square" rtlCol="0">
            <a:spAutoFit/>
          </a:bodyPr>
          <a:lstStyle/>
          <a:p>
            <a:r>
              <a:rPr lang="en-IN" sz="2000" b="1" dirty="0"/>
              <a:t>1 Byte</a:t>
            </a:r>
          </a:p>
        </p:txBody>
      </p:sp>
    </p:spTree>
    <p:extLst>
      <p:ext uri="{BB962C8B-B14F-4D97-AF65-F5344CB8AC3E}">
        <p14:creationId xmlns:p14="http://schemas.microsoft.com/office/powerpoint/2010/main" val="2961450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6EC08-7951-7526-4203-BD471A6DE62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A4F7388-1991-0470-8C32-4772BEF24C9D}"/>
              </a:ext>
            </a:extLst>
          </p:cNvPr>
          <p:cNvPicPr>
            <a:picLocks noChangeAspect="1"/>
          </p:cNvPicPr>
          <p:nvPr/>
        </p:nvPicPr>
        <p:blipFill>
          <a:blip r:embed="rId2"/>
          <a:stretch>
            <a:fillRect/>
          </a:stretch>
        </p:blipFill>
        <p:spPr>
          <a:xfrm>
            <a:off x="766220" y="660668"/>
            <a:ext cx="10758875" cy="1113592"/>
          </a:xfrm>
          <a:prstGeom prst="rect">
            <a:avLst/>
          </a:prstGeom>
        </p:spPr>
      </p:pic>
      <p:sp>
        <p:nvSpPr>
          <p:cNvPr id="8" name="TextBox 7">
            <a:extLst>
              <a:ext uri="{FF2B5EF4-FFF2-40B4-BE49-F238E27FC236}">
                <a16:creationId xmlns:a16="http://schemas.microsoft.com/office/drawing/2014/main" id="{242F8A30-CE2B-8ED6-1A8F-00A2A242920B}"/>
              </a:ext>
            </a:extLst>
          </p:cNvPr>
          <p:cNvSpPr txBox="1"/>
          <p:nvPr/>
        </p:nvSpPr>
        <p:spPr>
          <a:xfrm>
            <a:off x="-104454" y="924674"/>
            <a:ext cx="12483100" cy="523220"/>
          </a:xfrm>
          <a:prstGeom prst="rect">
            <a:avLst/>
          </a:prstGeom>
          <a:noFill/>
        </p:spPr>
        <p:txBody>
          <a:bodyPr wrap="square" rtlCol="0">
            <a:spAutoFit/>
          </a:bodyPr>
          <a:lstStyle/>
          <a:p>
            <a:r>
              <a:rPr lang="en-IN" sz="2800" b="1" dirty="0"/>
              <a:t> …BA      X       A        B       R       A       C        A       D       A       B       R       A      R       RA …</a:t>
            </a:r>
          </a:p>
        </p:txBody>
      </p:sp>
      <p:pic>
        <p:nvPicPr>
          <p:cNvPr id="9" name="Picture 8">
            <a:extLst>
              <a:ext uri="{FF2B5EF4-FFF2-40B4-BE49-F238E27FC236}">
                <a16:creationId xmlns:a16="http://schemas.microsoft.com/office/drawing/2014/main" id="{4E0AF53A-3992-A450-B0C7-8ACB6A87FE85}"/>
              </a:ext>
            </a:extLst>
          </p:cNvPr>
          <p:cNvPicPr>
            <a:picLocks noChangeAspect="1"/>
          </p:cNvPicPr>
          <p:nvPr/>
        </p:nvPicPr>
        <p:blipFill>
          <a:blip r:embed="rId2"/>
          <a:stretch>
            <a:fillRect/>
          </a:stretch>
        </p:blipFill>
        <p:spPr>
          <a:xfrm>
            <a:off x="870674" y="2467206"/>
            <a:ext cx="10758875" cy="1113592"/>
          </a:xfrm>
          <a:prstGeom prst="rect">
            <a:avLst/>
          </a:prstGeom>
        </p:spPr>
      </p:pic>
      <p:sp>
        <p:nvSpPr>
          <p:cNvPr id="10" name="TextBox 9">
            <a:extLst>
              <a:ext uri="{FF2B5EF4-FFF2-40B4-BE49-F238E27FC236}">
                <a16:creationId xmlns:a16="http://schemas.microsoft.com/office/drawing/2014/main" id="{EDDD63D9-FB1C-B2BD-11EF-73E69086B75D}"/>
              </a:ext>
            </a:extLst>
          </p:cNvPr>
          <p:cNvSpPr txBox="1"/>
          <p:nvPr/>
        </p:nvSpPr>
        <p:spPr>
          <a:xfrm>
            <a:off x="0" y="2731212"/>
            <a:ext cx="12483100" cy="523220"/>
          </a:xfrm>
          <a:prstGeom prst="rect">
            <a:avLst/>
          </a:prstGeom>
          <a:noFill/>
        </p:spPr>
        <p:txBody>
          <a:bodyPr wrap="square" rtlCol="0">
            <a:spAutoFit/>
          </a:bodyPr>
          <a:lstStyle/>
          <a:p>
            <a:r>
              <a:rPr lang="en-IN" sz="2800" b="1" dirty="0"/>
              <a:t>  BAX      A        B       R       A       C        A       D       A       B       R       A      R       </a:t>
            </a:r>
            <a:r>
              <a:rPr lang="en-IN" sz="2800" b="1" dirty="0" err="1"/>
              <a:t>R</a:t>
            </a:r>
            <a:r>
              <a:rPr lang="en-IN" sz="2800" b="1" dirty="0"/>
              <a:t>      A …</a:t>
            </a:r>
          </a:p>
        </p:txBody>
      </p:sp>
      <p:pic>
        <p:nvPicPr>
          <p:cNvPr id="11" name="Picture 10">
            <a:extLst>
              <a:ext uri="{FF2B5EF4-FFF2-40B4-BE49-F238E27FC236}">
                <a16:creationId xmlns:a16="http://schemas.microsoft.com/office/drawing/2014/main" id="{43BEF2A6-2474-74DF-E32E-C3114DEFE1B4}"/>
              </a:ext>
            </a:extLst>
          </p:cNvPr>
          <p:cNvPicPr>
            <a:picLocks noChangeAspect="1"/>
          </p:cNvPicPr>
          <p:nvPr/>
        </p:nvPicPr>
        <p:blipFill>
          <a:blip r:embed="rId2"/>
          <a:stretch>
            <a:fillRect/>
          </a:stretch>
        </p:blipFill>
        <p:spPr>
          <a:xfrm>
            <a:off x="1808251" y="4532312"/>
            <a:ext cx="10559325" cy="1092938"/>
          </a:xfrm>
          <a:prstGeom prst="rect">
            <a:avLst/>
          </a:prstGeom>
        </p:spPr>
      </p:pic>
      <p:sp>
        <p:nvSpPr>
          <p:cNvPr id="12" name="TextBox 11">
            <a:extLst>
              <a:ext uri="{FF2B5EF4-FFF2-40B4-BE49-F238E27FC236}">
                <a16:creationId xmlns:a16="http://schemas.microsoft.com/office/drawing/2014/main" id="{FAFE0340-1C85-5CE7-3AC4-487FF9C4AD59}"/>
              </a:ext>
            </a:extLst>
          </p:cNvPr>
          <p:cNvSpPr txBox="1"/>
          <p:nvPr/>
        </p:nvSpPr>
        <p:spPr>
          <a:xfrm>
            <a:off x="-155825" y="4796318"/>
            <a:ext cx="12483100" cy="523220"/>
          </a:xfrm>
          <a:prstGeom prst="rect">
            <a:avLst/>
          </a:prstGeom>
          <a:noFill/>
        </p:spPr>
        <p:txBody>
          <a:bodyPr wrap="square" rtlCol="0">
            <a:spAutoFit/>
          </a:bodyPr>
          <a:lstStyle/>
          <a:p>
            <a:r>
              <a:rPr lang="en-IN" sz="2800" b="1" dirty="0"/>
              <a:t> …BAXABRAC    A       D       A       B       R       A        R       </a:t>
            </a:r>
            <a:r>
              <a:rPr lang="en-IN" sz="2800" b="1" dirty="0" err="1"/>
              <a:t>R</a:t>
            </a:r>
            <a:r>
              <a:rPr lang="en-IN" sz="2800" b="1" dirty="0"/>
              <a:t>       A       R       </a:t>
            </a:r>
            <a:r>
              <a:rPr lang="en-IN" sz="2800" b="1" dirty="0" err="1"/>
              <a:t>R</a:t>
            </a:r>
            <a:r>
              <a:rPr lang="en-IN" sz="2800" b="1" dirty="0"/>
              <a:t>       A      X</a:t>
            </a:r>
          </a:p>
        </p:txBody>
      </p:sp>
      <p:sp>
        <p:nvSpPr>
          <p:cNvPr id="17" name="Arrow: Curved Up 16">
            <a:extLst>
              <a:ext uri="{FF2B5EF4-FFF2-40B4-BE49-F238E27FC236}">
                <a16:creationId xmlns:a16="http://schemas.microsoft.com/office/drawing/2014/main" id="{C318C9CB-2C04-2EAA-1257-3F7458A99E74}"/>
              </a:ext>
            </a:extLst>
          </p:cNvPr>
          <p:cNvSpPr/>
          <p:nvPr/>
        </p:nvSpPr>
        <p:spPr>
          <a:xfrm>
            <a:off x="5404207" y="5393932"/>
            <a:ext cx="2589087" cy="636998"/>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Up 17">
            <a:extLst>
              <a:ext uri="{FF2B5EF4-FFF2-40B4-BE49-F238E27FC236}">
                <a16:creationId xmlns:a16="http://schemas.microsoft.com/office/drawing/2014/main" id="{779F480C-BF29-90AD-3DE2-42BEE39375CB}"/>
              </a:ext>
            </a:extLst>
          </p:cNvPr>
          <p:cNvSpPr/>
          <p:nvPr/>
        </p:nvSpPr>
        <p:spPr>
          <a:xfrm>
            <a:off x="6214154" y="5412769"/>
            <a:ext cx="2539428" cy="636998"/>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Up 18">
            <a:extLst>
              <a:ext uri="{FF2B5EF4-FFF2-40B4-BE49-F238E27FC236}">
                <a16:creationId xmlns:a16="http://schemas.microsoft.com/office/drawing/2014/main" id="{ACA4733B-2C6C-0167-0940-CF7E2B3FBD95}"/>
              </a:ext>
            </a:extLst>
          </p:cNvPr>
          <p:cNvSpPr/>
          <p:nvPr/>
        </p:nvSpPr>
        <p:spPr>
          <a:xfrm>
            <a:off x="7003552" y="5400783"/>
            <a:ext cx="2510318" cy="636998"/>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Arrow: Curved Up 19">
            <a:extLst>
              <a:ext uri="{FF2B5EF4-FFF2-40B4-BE49-F238E27FC236}">
                <a16:creationId xmlns:a16="http://schemas.microsoft.com/office/drawing/2014/main" id="{7BA013B9-0240-C0BA-976B-469F5975C7AD}"/>
              </a:ext>
            </a:extLst>
          </p:cNvPr>
          <p:cNvSpPr/>
          <p:nvPr/>
        </p:nvSpPr>
        <p:spPr>
          <a:xfrm flipV="1">
            <a:off x="7762127" y="4150759"/>
            <a:ext cx="2481208" cy="508572"/>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2" name="Arrow: Curved Up 21">
            <a:extLst>
              <a:ext uri="{FF2B5EF4-FFF2-40B4-BE49-F238E27FC236}">
                <a16:creationId xmlns:a16="http://schemas.microsoft.com/office/drawing/2014/main" id="{F143931F-8528-9F3E-2F1C-5F93F5FB6D64}"/>
              </a:ext>
            </a:extLst>
          </p:cNvPr>
          <p:cNvSpPr/>
          <p:nvPr/>
        </p:nvSpPr>
        <p:spPr>
          <a:xfrm flipV="1">
            <a:off x="8592621" y="4149046"/>
            <a:ext cx="2481208" cy="508572"/>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TextBox 22">
            <a:extLst>
              <a:ext uri="{FF2B5EF4-FFF2-40B4-BE49-F238E27FC236}">
                <a16:creationId xmlns:a16="http://schemas.microsoft.com/office/drawing/2014/main" id="{A703963E-02F0-557B-3FAC-07BAB4A263DE}"/>
              </a:ext>
            </a:extLst>
          </p:cNvPr>
          <p:cNvSpPr txBox="1"/>
          <p:nvPr/>
        </p:nvSpPr>
        <p:spPr>
          <a:xfrm>
            <a:off x="9328935" y="1695235"/>
            <a:ext cx="2229492" cy="584775"/>
          </a:xfrm>
          <a:prstGeom prst="rect">
            <a:avLst/>
          </a:prstGeom>
          <a:noFill/>
        </p:spPr>
        <p:txBody>
          <a:bodyPr wrap="square" rtlCol="0">
            <a:spAutoFit/>
          </a:bodyPr>
          <a:lstStyle/>
          <a:p>
            <a:r>
              <a:rPr lang="en-IN" sz="3200" b="1" dirty="0"/>
              <a:t>( 0 , 0 , D )</a:t>
            </a:r>
          </a:p>
        </p:txBody>
      </p:sp>
      <p:sp>
        <p:nvSpPr>
          <p:cNvPr id="24" name="TextBox 23">
            <a:extLst>
              <a:ext uri="{FF2B5EF4-FFF2-40B4-BE49-F238E27FC236}">
                <a16:creationId xmlns:a16="http://schemas.microsoft.com/office/drawing/2014/main" id="{ABA9EBBE-982E-7A32-758B-D1BDBA6FC77C}"/>
              </a:ext>
            </a:extLst>
          </p:cNvPr>
          <p:cNvSpPr txBox="1"/>
          <p:nvPr/>
        </p:nvSpPr>
        <p:spPr>
          <a:xfrm>
            <a:off x="9337497" y="3465513"/>
            <a:ext cx="2229492" cy="584775"/>
          </a:xfrm>
          <a:prstGeom prst="rect">
            <a:avLst/>
          </a:prstGeom>
          <a:noFill/>
        </p:spPr>
        <p:txBody>
          <a:bodyPr wrap="square" rtlCol="0">
            <a:spAutoFit/>
          </a:bodyPr>
          <a:lstStyle/>
          <a:p>
            <a:r>
              <a:rPr lang="en-IN" sz="3200" b="1" dirty="0"/>
              <a:t>( 7 , 4 , R )</a:t>
            </a:r>
          </a:p>
        </p:txBody>
      </p:sp>
      <p:sp>
        <p:nvSpPr>
          <p:cNvPr id="25" name="TextBox 24">
            <a:extLst>
              <a:ext uri="{FF2B5EF4-FFF2-40B4-BE49-F238E27FC236}">
                <a16:creationId xmlns:a16="http://schemas.microsoft.com/office/drawing/2014/main" id="{7D44A66B-B91E-494B-D423-89928188F41C}"/>
              </a:ext>
            </a:extLst>
          </p:cNvPr>
          <p:cNvSpPr txBox="1"/>
          <p:nvPr/>
        </p:nvSpPr>
        <p:spPr>
          <a:xfrm>
            <a:off x="9366607" y="5841966"/>
            <a:ext cx="2229492" cy="584775"/>
          </a:xfrm>
          <a:prstGeom prst="rect">
            <a:avLst/>
          </a:prstGeom>
          <a:noFill/>
        </p:spPr>
        <p:txBody>
          <a:bodyPr wrap="square" rtlCol="0">
            <a:spAutoFit/>
          </a:bodyPr>
          <a:lstStyle/>
          <a:p>
            <a:r>
              <a:rPr lang="en-IN" sz="3200" b="1" dirty="0"/>
              <a:t>( 3 , 5 , X )</a:t>
            </a:r>
          </a:p>
        </p:txBody>
      </p:sp>
    </p:spTree>
    <p:extLst>
      <p:ext uri="{BB962C8B-B14F-4D97-AF65-F5344CB8AC3E}">
        <p14:creationId xmlns:p14="http://schemas.microsoft.com/office/powerpoint/2010/main" val="3927524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1B8EB-6F99-A388-F3CF-C563D0D296F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481A4E-7E67-B37D-3552-2B11C6D2E1AB}"/>
              </a:ext>
            </a:extLst>
          </p:cNvPr>
          <p:cNvPicPr>
            <a:picLocks noChangeAspect="1"/>
          </p:cNvPicPr>
          <p:nvPr/>
        </p:nvPicPr>
        <p:blipFill>
          <a:blip r:embed="rId2"/>
          <a:stretch>
            <a:fillRect/>
          </a:stretch>
        </p:blipFill>
        <p:spPr>
          <a:xfrm>
            <a:off x="2044557" y="1320489"/>
            <a:ext cx="7489860" cy="5347239"/>
          </a:xfrm>
          <a:prstGeom prst="rect">
            <a:avLst/>
          </a:prstGeom>
        </p:spPr>
      </p:pic>
      <p:sp>
        <p:nvSpPr>
          <p:cNvPr id="6" name="Title 1">
            <a:extLst>
              <a:ext uri="{FF2B5EF4-FFF2-40B4-BE49-F238E27FC236}">
                <a16:creationId xmlns:a16="http://schemas.microsoft.com/office/drawing/2014/main" id="{88054AA9-F412-5D68-CBFF-0514DD93DA32}"/>
              </a:ext>
            </a:extLst>
          </p:cNvPr>
          <p:cNvSpPr>
            <a:spLocks noGrp="1"/>
          </p:cNvSpPr>
          <p:nvPr>
            <p:ph type="title"/>
          </p:nvPr>
        </p:nvSpPr>
        <p:spPr>
          <a:xfrm>
            <a:off x="665344" y="-92467"/>
            <a:ext cx="10515600" cy="1325563"/>
          </a:xfrm>
        </p:spPr>
        <p:txBody>
          <a:bodyPr>
            <a:normAutofit/>
          </a:bodyPr>
          <a:lstStyle/>
          <a:p>
            <a:r>
              <a:rPr lang="en-US" sz="4000" dirty="0">
                <a:latin typeface="Times New Roman" panose="02020603050405020304" pitchFamily="18" charset="0"/>
                <a:cs typeface="Times New Roman" panose="02020603050405020304" pitchFamily="18" charset="0"/>
              </a:rPr>
              <a:t>LZ77 Algorithm – Data Path</a:t>
            </a:r>
          </a:p>
        </p:txBody>
      </p:sp>
      <p:sp>
        <p:nvSpPr>
          <p:cNvPr id="7" name="Rectangle 6">
            <a:extLst>
              <a:ext uri="{FF2B5EF4-FFF2-40B4-BE49-F238E27FC236}">
                <a16:creationId xmlns:a16="http://schemas.microsoft.com/office/drawing/2014/main" id="{BC1E8914-BB82-EF64-1DD7-606E62A12926}"/>
              </a:ext>
            </a:extLst>
          </p:cNvPr>
          <p:cNvSpPr/>
          <p:nvPr/>
        </p:nvSpPr>
        <p:spPr>
          <a:xfrm>
            <a:off x="55605" y="922202"/>
            <a:ext cx="12080789" cy="4571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Tree>
    <p:extLst>
      <p:ext uri="{BB962C8B-B14F-4D97-AF65-F5344CB8AC3E}">
        <p14:creationId xmlns:p14="http://schemas.microsoft.com/office/powerpoint/2010/main" val="188937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A6E1C-F817-A72F-3A31-881CD6DEDF2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D1872B3-0BE3-3D5C-8671-7EB580C4BAD6}"/>
              </a:ext>
            </a:extLst>
          </p:cNvPr>
          <p:cNvSpPr txBox="1"/>
          <p:nvPr/>
        </p:nvSpPr>
        <p:spPr>
          <a:xfrm>
            <a:off x="521413" y="555072"/>
            <a:ext cx="10235630" cy="369332"/>
          </a:xfrm>
          <a:prstGeom prst="rect">
            <a:avLst/>
          </a:prstGeom>
          <a:solidFill>
            <a:schemeClr val="accent1">
              <a:lumMod val="50000"/>
            </a:schemeClr>
          </a:solidFill>
        </p:spPr>
        <p:txBody>
          <a:bodyPr wrap="square">
            <a:spAutoFit/>
          </a:bodyPr>
          <a:lstStyle/>
          <a:p>
            <a:pPr algn="l">
              <a:buNone/>
            </a:pPr>
            <a:r>
              <a:rPr lang="en-IN" b="1" i="0" dirty="0">
                <a:solidFill>
                  <a:srgbClr val="38BDF8"/>
                </a:solidFill>
                <a:effectLst/>
                <a:latin typeface="Arial" panose="020B0604020202020204" pitchFamily="34" charset="0"/>
              </a:rPr>
              <a:t>Module 1: Input Buffer</a:t>
            </a:r>
          </a:p>
        </p:txBody>
      </p:sp>
      <p:sp>
        <p:nvSpPr>
          <p:cNvPr id="10" name="TextBox 9">
            <a:extLst>
              <a:ext uri="{FF2B5EF4-FFF2-40B4-BE49-F238E27FC236}">
                <a16:creationId xmlns:a16="http://schemas.microsoft.com/office/drawing/2014/main" id="{857680CF-3ECA-C75D-99D3-1FDE9C8EB7D8}"/>
              </a:ext>
            </a:extLst>
          </p:cNvPr>
          <p:cNvSpPr txBox="1"/>
          <p:nvPr/>
        </p:nvSpPr>
        <p:spPr>
          <a:xfrm>
            <a:off x="1291975" y="1173540"/>
            <a:ext cx="8191072" cy="2246769"/>
          </a:xfrm>
          <a:prstGeom prst="rect">
            <a:avLst/>
          </a:prstGeom>
          <a:noFill/>
        </p:spPr>
        <p:txBody>
          <a:bodyPr wrap="square">
            <a:spAutoFit/>
          </a:bodyPr>
          <a:lstStyle/>
          <a:p>
            <a:pPr algn="l">
              <a:buNone/>
            </a:pPr>
            <a:r>
              <a:rPr lang="en-US" sz="1400" b="1" i="0" dirty="0">
                <a:effectLst/>
                <a:latin typeface="Arial" panose="020B0604020202020204" pitchFamily="34" charset="0"/>
              </a:rPr>
              <a:t>Purpose</a:t>
            </a:r>
          </a:p>
          <a:p>
            <a:pPr algn="l">
              <a:buNone/>
            </a:pPr>
            <a:r>
              <a:rPr lang="en-US" sz="1400" b="0" i="0" dirty="0">
                <a:effectLst/>
                <a:latin typeface="Arial" panose="020B0604020202020204" pitchFamily="34" charset="0"/>
              </a:rPr>
              <a:t>        Receives and stores raw data stream from external source</a:t>
            </a:r>
          </a:p>
          <a:p>
            <a:pPr algn="l">
              <a:buNone/>
            </a:pPr>
            <a:r>
              <a:rPr lang="en-US" sz="1400" b="1" i="0" dirty="0">
                <a:effectLst/>
                <a:latin typeface="Arial" panose="020B0604020202020204" pitchFamily="34" charset="0"/>
              </a:rPr>
              <a:t>Port Specification</a:t>
            </a:r>
          </a:p>
          <a:p>
            <a:pPr lvl="1"/>
            <a:r>
              <a:rPr lang="en-US" sz="1400" b="1" i="0" dirty="0">
                <a:effectLst/>
                <a:latin typeface="Courier New" panose="02070309020205020404" pitchFamily="49" charset="0"/>
              </a:rPr>
              <a:t>Input: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clk</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rst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data_in</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load_input</a:t>
            </a:r>
            <a:br>
              <a:rPr lang="en-US" sz="1400" b="0" i="0" dirty="0">
                <a:effectLst/>
                <a:latin typeface="Courier New" panose="02070309020205020404" pitchFamily="49" charset="0"/>
              </a:rPr>
            </a:br>
            <a:r>
              <a:rPr lang="en-US" sz="1400" b="1" i="0" dirty="0">
                <a:effectLst/>
                <a:latin typeface="Courier New" panose="02070309020205020404" pitchFamily="49" charset="0"/>
              </a:rPr>
              <a:t>Output: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data_out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read_count</a:t>
            </a:r>
            <a:endParaRPr lang="en-US" sz="1400" b="0" i="0" dirty="0">
              <a:effectLst/>
              <a:latin typeface="Courier New" panose="02070309020205020404" pitchFamily="49" charset="0"/>
            </a:endParaRPr>
          </a:p>
          <a:p>
            <a:pPr algn="l">
              <a:buNone/>
            </a:pPr>
            <a:r>
              <a:rPr lang="en-US" sz="1400" b="1" i="0" dirty="0">
                <a:effectLst/>
                <a:latin typeface="Arial" panose="020B0604020202020204" pitchFamily="34" charset="0"/>
              </a:rPr>
              <a:t>Functionality</a:t>
            </a:r>
          </a:p>
          <a:p>
            <a:pPr marL="742950" lvl="1" indent="-285750">
              <a:buFont typeface="Arial" panose="020B0604020202020204" pitchFamily="34" charset="0"/>
              <a:buChar char="•"/>
            </a:pPr>
            <a:r>
              <a:rPr lang="en-US" sz="1400" b="1" i="0" dirty="0" err="1">
                <a:effectLst/>
                <a:latin typeface="Arial" panose="020B0604020202020204" pitchFamily="34" charset="0"/>
              </a:rPr>
              <a:t>load_input</a:t>
            </a:r>
            <a:r>
              <a:rPr lang="en-US" sz="1400" b="0" i="0" dirty="0">
                <a:effectLst/>
                <a:latin typeface="Arial" panose="020B0604020202020204" pitchFamily="34" charset="0"/>
              </a:rPr>
              <a:t> signal: When HIGH, store </a:t>
            </a:r>
            <a:r>
              <a:rPr lang="en-US" sz="1400" b="0" i="0" dirty="0" err="1">
                <a:effectLst/>
                <a:latin typeface="Arial" panose="020B0604020202020204" pitchFamily="34" charset="0"/>
              </a:rPr>
              <a:t>data_in</a:t>
            </a:r>
            <a:r>
              <a:rPr lang="en-US" sz="1400" b="0" i="0" dirty="0">
                <a:effectLst/>
                <a:latin typeface="Arial" panose="020B0604020202020204" pitchFamily="34" charset="0"/>
              </a:rPr>
              <a:t> to buffer</a:t>
            </a:r>
          </a:p>
          <a:p>
            <a:pPr marL="742950" lvl="1" indent="-285750">
              <a:buFont typeface="Arial" panose="020B0604020202020204" pitchFamily="34" charset="0"/>
              <a:buChar char="•"/>
            </a:pPr>
            <a:r>
              <a:rPr lang="en-US" sz="1400" b="1" i="0" dirty="0" err="1">
                <a:effectLst/>
                <a:latin typeface="Arial" panose="020B0604020202020204" pitchFamily="34" charset="0"/>
              </a:rPr>
              <a:t>data_out</a:t>
            </a:r>
            <a:r>
              <a:rPr lang="en-US" sz="1400" b="0" i="0" dirty="0">
                <a:effectLst/>
                <a:latin typeface="Arial" panose="020B0604020202020204" pitchFamily="34" charset="0"/>
              </a:rPr>
              <a:t>: Continuously available for Lookahead Buffer</a:t>
            </a:r>
          </a:p>
          <a:p>
            <a:pPr marL="742950" lvl="1" indent="-285750">
              <a:buFont typeface="Arial" panose="020B0604020202020204" pitchFamily="34" charset="0"/>
              <a:buChar char="•"/>
            </a:pPr>
            <a:r>
              <a:rPr lang="en-US" sz="1400" b="1" i="0" dirty="0" err="1">
                <a:effectLst/>
                <a:latin typeface="Arial" panose="020B0604020202020204" pitchFamily="34" charset="0"/>
              </a:rPr>
              <a:t>read_count</a:t>
            </a:r>
            <a:r>
              <a:rPr lang="en-US" sz="1400" b="0" i="0" dirty="0">
                <a:effectLst/>
                <a:latin typeface="Arial" panose="020B0604020202020204" pitchFamily="34" charset="0"/>
              </a:rPr>
              <a:t>: Tracks total bytes read from input</a:t>
            </a:r>
          </a:p>
          <a:p>
            <a:pPr marL="742950" lvl="1" indent="-285750">
              <a:buFont typeface="Arial" panose="020B0604020202020204" pitchFamily="34" charset="0"/>
              <a:buChar char="•"/>
            </a:pPr>
            <a:r>
              <a:rPr lang="en-US" sz="1400" b="0" i="0" dirty="0">
                <a:effectLst/>
                <a:latin typeface="Arial" panose="020B0604020202020204" pitchFamily="34" charset="0"/>
              </a:rPr>
              <a:t>Implements FIFO or pointer-based ring buffer</a:t>
            </a:r>
          </a:p>
        </p:txBody>
      </p:sp>
      <p:sp>
        <p:nvSpPr>
          <p:cNvPr id="12" name="TextBox 11">
            <a:extLst>
              <a:ext uri="{FF2B5EF4-FFF2-40B4-BE49-F238E27FC236}">
                <a16:creationId xmlns:a16="http://schemas.microsoft.com/office/drawing/2014/main" id="{2611BFE8-4611-7275-B1E8-EE6D801B87E8}"/>
              </a:ext>
            </a:extLst>
          </p:cNvPr>
          <p:cNvSpPr txBox="1"/>
          <p:nvPr/>
        </p:nvSpPr>
        <p:spPr>
          <a:xfrm>
            <a:off x="552236" y="3688690"/>
            <a:ext cx="10235630" cy="369601"/>
          </a:xfrm>
          <a:prstGeom prst="rect">
            <a:avLst/>
          </a:prstGeom>
          <a:solidFill>
            <a:srgbClr val="002060"/>
          </a:solidFill>
        </p:spPr>
        <p:txBody>
          <a:bodyPr wrap="square">
            <a:spAutoFit/>
          </a:bodyPr>
          <a:lstStyle/>
          <a:p>
            <a:pPr algn="l">
              <a:buNone/>
            </a:pPr>
            <a:r>
              <a:rPr lang="en-US" b="1" i="0" dirty="0">
                <a:solidFill>
                  <a:srgbClr val="38BDF8"/>
                </a:solidFill>
                <a:effectLst/>
                <a:latin typeface="Arial" panose="020B0604020202020204" pitchFamily="34" charset="0"/>
              </a:rPr>
              <a:t>Module 2: Search Buffer (Sliding Window)</a:t>
            </a:r>
          </a:p>
        </p:txBody>
      </p:sp>
      <p:sp>
        <p:nvSpPr>
          <p:cNvPr id="14" name="TextBox 13">
            <a:extLst>
              <a:ext uri="{FF2B5EF4-FFF2-40B4-BE49-F238E27FC236}">
                <a16:creationId xmlns:a16="http://schemas.microsoft.com/office/drawing/2014/main" id="{13E65FB8-53EC-1F17-E7DA-7650F7D4FA5F}"/>
              </a:ext>
            </a:extLst>
          </p:cNvPr>
          <p:cNvSpPr txBox="1"/>
          <p:nvPr/>
        </p:nvSpPr>
        <p:spPr>
          <a:xfrm>
            <a:off x="1328791" y="4256593"/>
            <a:ext cx="9534418" cy="2246769"/>
          </a:xfrm>
          <a:prstGeom prst="rect">
            <a:avLst/>
          </a:prstGeom>
          <a:noFill/>
        </p:spPr>
        <p:txBody>
          <a:bodyPr wrap="square">
            <a:spAutoFit/>
          </a:bodyPr>
          <a:lstStyle/>
          <a:p>
            <a:pPr algn="l">
              <a:buNone/>
            </a:pPr>
            <a:r>
              <a:rPr lang="en-US" sz="1400" b="1" i="0" dirty="0">
                <a:effectLst/>
                <a:latin typeface="Arial" panose="020B0604020202020204" pitchFamily="34" charset="0"/>
              </a:rPr>
              <a:t>Purpose</a:t>
            </a:r>
          </a:p>
          <a:p>
            <a:pPr algn="l">
              <a:buNone/>
            </a:pPr>
            <a:r>
              <a:rPr lang="en-US" sz="1400" b="0" i="0" dirty="0">
                <a:effectLst/>
                <a:latin typeface="Arial" panose="020B0604020202020204" pitchFamily="34" charset="0"/>
              </a:rPr>
              <a:t>	Maintains history of previously encoded bytes for pattern matching reference</a:t>
            </a:r>
          </a:p>
          <a:p>
            <a:pPr algn="l">
              <a:buNone/>
            </a:pPr>
            <a:r>
              <a:rPr lang="en-US" sz="1400" b="1" i="0" dirty="0">
                <a:effectLst/>
                <a:latin typeface="Arial" panose="020B0604020202020204" pitchFamily="34" charset="0"/>
              </a:rPr>
              <a:t>Port Specification</a:t>
            </a:r>
          </a:p>
          <a:p>
            <a:pPr lvl="1"/>
            <a:r>
              <a:rPr lang="en-US" sz="1400" b="1" i="0" dirty="0">
                <a:effectLst/>
                <a:latin typeface="Courier New" panose="02070309020205020404" pitchFamily="49" charset="0"/>
              </a:rPr>
              <a:t>Input: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clk</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rst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data_in</a:t>
            </a:r>
            <a:r>
              <a:rPr lang="en-US" sz="1400" b="0" i="0" dirty="0">
                <a:effectLst/>
                <a:latin typeface="Courier New" panose="02070309020205020404" pitchFamily="49" charset="0"/>
              </a:rPr>
              <a:t>, shift</a:t>
            </a:r>
            <a:br>
              <a:rPr lang="en-US" sz="1400" b="0" i="0" dirty="0">
                <a:effectLst/>
                <a:latin typeface="Courier New" panose="02070309020205020404" pitchFamily="49" charset="0"/>
              </a:rPr>
            </a:br>
            <a:r>
              <a:rPr lang="en-US" sz="1400" b="1" i="0" dirty="0">
                <a:effectLst/>
                <a:latin typeface="Courier New" panose="02070309020205020404" pitchFamily="49" charset="0"/>
              </a:rPr>
              <a:t>Output: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buffer_out</a:t>
            </a:r>
            <a:endParaRPr lang="en-US" sz="1400" dirty="0">
              <a:latin typeface="Courier New" panose="02070309020205020404" pitchFamily="49" charset="0"/>
            </a:endParaRPr>
          </a:p>
          <a:p>
            <a:r>
              <a:rPr lang="en-US" sz="1400" b="1" dirty="0">
                <a:latin typeface="Arial" panose="020B0604020202020204" pitchFamily="34" charset="0"/>
              </a:rPr>
              <a:t>Functionality</a:t>
            </a:r>
            <a:endParaRPr lang="en-US" sz="1400" dirty="0">
              <a:latin typeface="Courier New" panose="02070309020205020404" pitchFamily="49" charset="0"/>
            </a:endParaRPr>
          </a:p>
          <a:p>
            <a:pPr marL="742950" lvl="1" indent="-285750">
              <a:buFont typeface="Arial" panose="020B0604020202020204" pitchFamily="34" charset="0"/>
              <a:buChar char="•"/>
            </a:pPr>
            <a:r>
              <a:rPr lang="en-US" sz="1400" b="1" dirty="0">
                <a:latin typeface="Arial" panose="020B0604020202020204" pitchFamily="34" charset="0"/>
              </a:rPr>
              <a:t>Stores W bytes</a:t>
            </a:r>
            <a:r>
              <a:rPr lang="en-US" sz="1400" dirty="0">
                <a:latin typeface="Arial" panose="020B0604020202020204" pitchFamily="34" charset="0"/>
              </a:rPr>
              <a:t> (typically 4KB-32KB window)</a:t>
            </a:r>
          </a:p>
          <a:p>
            <a:pPr marL="742950" lvl="1" indent="-285750">
              <a:buFont typeface="Arial" panose="020B0604020202020204" pitchFamily="34" charset="0"/>
              <a:buChar char="•"/>
            </a:pPr>
            <a:r>
              <a:rPr lang="en-US" sz="1400" b="1" i="0" dirty="0">
                <a:effectLst/>
                <a:latin typeface="Arial" panose="020B0604020202020204" pitchFamily="34" charset="0"/>
              </a:rPr>
              <a:t>shift signal</a:t>
            </a:r>
            <a:r>
              <a:rPr lang="en-US" sz="1400" b="0" i="0" dirty="0">
                <a:effectLst/>
                <a:latin typeface="Arial" panose="020B0604020202020204" pitchFamily="34" charset="0"/>
              </a:rPr>
              <a:t>: When HIGH, slides all bytes left + inserts new </a:t>
            </a:r>
            <a:r>
              <a:rPr lang="en-US" sz="1400" b="0" i="0" dirty="0" err="1">
                <a:effectLst/>
                <a:latin typeface="Arial" panose="020B0604020202020204" pitchFamily="34" charset="0"/>
              </a:rPr>
              <a:t>data_in</a:t>
            </a:r>
            <a:endParaRPr lang="en-US" sz="1400" b="0" i="0" dirty="0">
              <a:effectLst/>
              <a:latin typeface="Arial" panose="020B0604020202020204" pitchFamily="34" charset="0"/>
            </a:endParaRPr>
          </a:p>
          <a:p>
            <a:pPr marL="742950" lvl="1" indent="-285750">
              <a:buFont typeface="Arial" panose="020B0604020202020204" pitchFamily="34" charset="0"/>
              <a:buChar char="•"/>
            </a:pPr>
            <a:r>
              <a:rPr lang="en-US" sz="1400" b="1" i="0" dirty="0" err="1">
                <a:effectLst/>
                <a:latin typeface="Arial" panose="020B0604020202020204" pitchFamily="34" charset="0"/>
              </a:rPr>
              <a:t>buffer_out</a:t>
            </a:r>
            <a:r>
              <a:rPr lang="en-US" sz="1400" b="0" i="0" dirty="0">
                <a:effectLst/>
                <a:latin typeface="Arial" panose="020B0604020202020204" pitchFamily="34" charset="0"/>
              </a:rPr>
              <a:t>: Full history available for Match Finder comparison</a:t>
            </a:r>
          </a:p>
          <a:p>
            <a:pPr marL="742950" lvl="1" indent="-285750">
              <a:buFont typeface="Arial" panose="020B0604020202020204" pitchFamily="34" charset="0"/>
              <a:buChar char="•"/>
            </a:pPr>
            <a:r>
              <a:rPr lang="en-US" sz="1400" b="0" i="0" dirty="0">
                <a:effectLst/>
                <a:latin typeface="Arial" panose="020B0604020202020204" pitchFamily="34" charset="0"/>
              </a:rPr>
              <a:t>Implemented as circular buffer or shift register for efficiency</a:t>
            </a:r>
          </a:p>
        </p:txBody>
      </p:sp>
    </p:spTree>
    <p:extLst>
      <p:ext uri="{BB962C8B-B14F-4D97-AF65-F5344CB8AC3E}">
        <p14:creationId xmlns:p14="http://schemas.microsoft.com/office/powerpoint/2010/main" val="1915656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F0BDB1-B598-E84D-9C98-E4C75C454E5D}"/>
              </a:ext>
            </a:extLst>
          </p:cNvPr>
          <p:cNvSpPr txBox="1"/>
          <p:nvPr/>
        </p:nvSpPr>
        <p:spPr>
          <a:xfrm>
            <a:off x="721331" y="400961"/>
            <a:ext cx="10749337" cy="369332"/>
          </a:xfrm>
          <a:prstGeom prst="rect">
            <a:avLst/>
          </a:prstGeom>
          <a:solidFill>
            <a:srgbClr val="002060"/>
          </a:solidFill>
        </p:spPr>
        <p:txBody>
          <a:bodyPr wrap="square">
            <a:spAutoFit/>
          </a:bodyPr>
          <a:lstStyle/>
          <a:p>
            <a:pPr algn="l">
              <a:buNone/>
            </a:pPr>
            <a:r>
              <a:rPr lang="en-IN" b="1" i="0" dirty="0">
                <a:solidFill>
                  <a:srgbClr val="38BDF8"/>
                </a:solidFill>
                <a:effectLst/>
                <a:latin typeface="Arial" panose="020B0604020202020204" pitchFamily="34" charset="0"/>
              </a:rPr>
              <a:t>Module 3: Lookahead Buffer</a:t>
            </a:r>
          </a:p>
        </p:txBody>
      </p:sp>
      <p:sp>
        <p:nvSpPr>
          <p:cNvPr id="5" name="TextBox 4">
            <a:extLst>
              <a:ext uri="{FF2B5EF4-FFF2-40B4-BE49-F238E27FC236}">
                <a16:creationId xmlns:a16="http://schemas.microsoft.com/office/drawing/2014/main" id="{4109E101-C0BA-77E9-7C8D-C80E683E35C5}"/>
              </a:ext>
            </a:extLst>
          </p:cNvPr>
          <p:cNvSpPr txBox="1"/>
          <p:nvPr/>
        </p:nvSpPr>
        <p:spPr>
          <a:xfrm>
            <a:off x="1199508" y="947508"/>
            <a:ext cx="8304088" cy="2246769"/>
          </a:xfrm>
          <a:prstGeom prst="rect">
            <a:avLst/>
          </a:prstGeom>
          <a:noFill/>
        </p:spPr>
        <p:txBody>
          <a:bodyPr wrap="square">
            <a:spAutoFit/>
          </a:bodyPr>
          <a:lstStyle/>
          <a:p>
            <a:pPr algn="l">
              <a:buNone/>
            </a:pPr>
            <a:r>
              <a:rPr lang="en-US" sz="1400" b="1" i="0" dirty="0">
                <a:effectLst/>
                <a:latin typeface="Arial" panose="020B0604020202020204" pitchFamily="34" charset="0"/>
              </a:rPr>
              <a:t>Purpose</a:t>
            </a:r>
          </a:p>
          <a:p>
            <a:pPr algn="l">
              <a:buNone/>
            </a:pPr>
            <a:r>
              <a:rPr lang="en-US" sz="1400" b="0" i="0" dirty="0">
                <a:effectLst/>
                <a:latin typeface="Arial" panose="020B0604020202020204" pitchFamily="34" charset="0"/>
              </a:rPr>
              <a:t>	Stores next bytes to be matched (pattern to search in history)</a:t>
            </a:r>
          </a:p>
          <a:p>
            <a:pPr algn="l">
              <a:buNone/>
            </a:pPr>
            <a:r>
              <a:rPr lang="en-US" sz="1400" b="1" i="0" dirty="0">
                <a:effectLst/>
                <a:latin typeface="Arial" panose="020B0604020202020204" pitchFamily="34" charset="0"/>
              </a:rPr>
              <a:t>Port Specification</a:t>
            </a:r>
          </a:p>
          <a:p>
            <a:pPr lvl="1"/>
            <a:r>
              <a:rPr lang="en-US" sz="1400" b="1" i="0" dirty="0">
                <a:effectLst/>
                <a:latin typeface="Courier New" panose="02070309020205020404" pitchFamily="49" charset="0"/>
              </a:rPr>
              <a:t>Input: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clk</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rst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data_in</a:t>
            </a:r>
            <a:r>
              <a:rPr lang="en-US" sz="1400" b="0" i="0" dirty="0">
                <a:effectLst/>
                <a:latin typeface="Courier New" panose="02070309020205020404" pitchFamily="49" charset="0"/>
              </a:rPr>
              <a:t>, load, clear</a:t>
            </a:r>
            <a:br>
              <a:rPr lang="en-US" sz="1400" b="0" i="0" dirty="0">
                <a:effectLst/>
                <a:latin typeface="Courier New" panose="02070309020205020404" pitchFamily="49" charset="0"/>
              </a:rPr>
            </a:br>
            <a:r>
              <a:rPr lang="en-US" sz="1400" b="1" i="0" dirty="0">
                <a:effectLst/>
                <a:latin typeface="Courier New" panose="02070309020205020404" pitchFamily="49" charset="0"/>
              </a:rPr>
              <a:t>Output: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buffer_out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data_out</a:t>
            </a:r>
            <a:endParaRPr lang="en-US" sz="1400" b="0" i="0" dirty="0">
              <a:effectLst/>
              <a:latin typeface="Courier New" panose="02070309020205020404" pitchFamily="49" charset="0"/>
            </a:endParaRPr>
          </a:p>
          <a:p>
            <a:pPr algn="l">
              <a:buNone/>
            </a:pPr>
            <a:r>
              <a:rPr lang="en-US" sz="1400" b="1" i="0" dirty="0">
                <a:effectLst/>
                <a:latin typeface="Arial" panose="020B0604020202020204" pitchFamily="34" charset="0"/>
              </a:rPr>
              <a:t>Functionality</a:t>
            </a:r>
          </a:p>
          <a:p>
            <a:pPr lvl="1">
              <a:buFont typeface="Arial" panose="020B0604020202020204" pitchFamily="34" charset="0"/>
              <a:buChar char="•"/>
            </a:pPr>
            <a:r>
              <a:rPr lang="en-US" sz="1400" b="1" i="0" dirty="0">
                <a:effectLst/>
                <a:latin typeface="Arial" panose="020B0604020202020204" pitchFamily="34" charset="0"/>
              </a:rPr>
              <a:t>load signal</a:t>
            </a:r>
            <a:r>
              <a:rPr lang="en-US" sz="1400" b="0" i="0" dirty="0">
                <a:effectLst/>
                <a:latin typeface="Arial" panose="020B0604020202020204" pitchFamily="34" charset="0"/>
              </a:rPr>
              <a:t>: Append </a:t>
            </a:r>
            <a:r>
              <a:rPr lang="en-US" sz="1400" b="0" i="0" dirty="0" err="1">
                <a:effectLst/>
                <a:latin typeface="Arial" panose="020B0604020202020204" pitchFamily="34" charset="0"/>
              </a:rPr>
              <a:t>data_in</a:t>
            </a:r>
            <a:r>
              <a:rPr lang="en-US" sz="1400" b="0" i="0" dirty="0">
                <a:effectLst/>
                <a:latin typeface="Arial" panose="020B0604020202020204" pitchFamily="34" charset="0"/>
              </a:rPr>
              <a:t> to buffer when HIGH</a:t>
            </a:r>
          </a:p>
          <a:p>
            <a:pPr lvl="1">
              <a:buFont typeface="Arial" panose="020B0604020202020204" pitchFamily="34" charset="0"/>
              <a:buChar char="•"/>
            </a:pPr>
            <a:r>
              <a:rPr lang="en-US" sz="1400" b="1" i="0" dirty="0">
                <a:effectLst/>
                <a:latin typeface="Arial" panose="020B0604020202020204" pitchFamily="34" charset="0"/>
              </a:rPr>
              <a:t>clear signal</a:t>
            </a:r>
            <a:r>
              <a:rPr lang="en-US" sz="1400" b="0" i="0" dirty="0">
                <a:effectLst/>
                <a:latin typeface="Arial" panose="020B0604020202020204" pitchFamily="34" charset="0"/>
              </a:rPr>
              <a:t>: Reset buffer </a:t>
            </a:r>
          </a:p>
          <a:p>
            <a:pPr lvl="1">
              <a:buFont typeface="Arial" panose="020B0604020202020204" pitchFamily="34" charset="0"/>
              <a:buChar char="•"/>
            </a:pPr>
            <a:r>
              <a:rPr lang="en-US" sz="1400" b="1" i="0" dirty="0" err="1">
                <a:effectLst/>
                <a:latin typeface="Arial" panose="020B0604020202020204" pitchFamily="34" charset="0"/>
              </a:rPr>
              <a:t>buffer_out</a:t>
            </a:r>
            <a:r>
              <a:rPr lang="en-US" sz="1400" b="0" i="0" dirty="0">
                <a:effectLst/>
                <a:latin typeface="Arial" panose="020B0604020202020204" pitchFamily="34" charset="0"/>
              </a:rPr>
              <a:t>: All the bytes available to Match Finder</a:t>
            </a:r>
          </a:p>
          <a:p>
            <a:pPr lvl="1">
              <a:buFont typeface="Arial" panose="020B0604020202020204" pitchFamily="34" charset="0"/>
              <a:buChar char="•"/>
            </a:pPr>
            <a:r>
              <a:rPr lang="en-US" sz="1400" b="1" i="0" dirty="0" err="1">
                <a:effectLst/>
                <a:latin typeface="Arial" panose="020B0604020202020204" pitchFamily="34" charset="0"/>
              </a:rPr>
              <a:t>data_out</a:t>
            </a:r>
            <a:r>
              <a:rPr lang="en-US" sz="1400" b="0" i="0" dirty="0">
                <a:effectLst/>
                <a:latin typeface="Arial" panose="020B0604020202020204" pitchFamily="34" charset="0"/>
              </a:rPr>
              <a:t>: First byte (next character to match and to be shifted)</a:t>
            </a:r>
          </a:p>
        </p:txBody>
      </p:sp>
      <p:sp>
        <p:nvSpPr>
          <p:cNvPr id="7" name="TextBox 6">
            <a:extLst>
              <a:ext uri="{FF2B5EF4-FFF2-40B4-BE49-F238E27FC236}">
                <a16:creationId xmlns:a16="http://schemas.microsoft.com/office/drawing/2014/main" id="{87080CDC-C0A3-4CAA-A219-19C6F5493ECA}"/>
              </a:ext>
            </a:extLst>
          </p:cNvPr>
          <p:cNvSpPr txBox="1"/>
          <p:nvPr/>
        </p:nvSpPr>
        <p:spPr>
          <a:xfrm>
            <a:off x="1199507" y="3874635"/>
            <a:ext cx="8252717" cy="2246769"/>
          </a:xfrm>
          <a:prstGeom prst="rect">
            <a:avLst/>
          </a:prstGeom>
          <a:noFill/>
        </p:spPr>
        <p:txBody>
          <a:bodyPr wrap="square">
            <a:spAutoFit/>
          </a:bodyPr>
          <a:lstStyle/>
          <a:p>
            <a:pPr algn="l">
              <a:buNone/>
            </a:pPr>
            <a:r>
              <a:rPr lang="en-US" sz="1400" b="1" i="0" dirty="0">
                <a:effectLst/>
                <a:latin typeface="Arial" panose="020B0604020202020204" pitchFamily="34" charset="0"/>
              </a:rPr>
              <a:t>Purpose</a:t>
            </a:r>
          </a:p>
          <a:p>
            <a:pPr algn="l">
              <a:buNone/>
            </a:pPr>
            <a:r>
              <a:rPr lang="en-US" sz="1400" b="0" i="0" dirty="0">
                <a:effectLst/>
                <a:latin typeface="Arial" panose="020B0604020202020204" pitchFamily="34" charset="0"/>
              </a:rPr>
              <a:t>	Searches history buffer to find longest matching pattern in lookahead buffer</a:t>
            </a:r>
          </a:p>
          <a:p>
            <a:pPr algn="l">
              <a:buNone/>
            </a:pPr>
            <a:r>
              <a:rPr lang="en-US" sz="1400" b="1" i="0" dirty="0">
                <a:effectLst/>
                <a:latin typeface="Arial" panose="020B0604020202020204" pitchFamily="34" charset="0"/>
              </a:rPr>
              <a:t>Port Specification</a:t>
            </a:r>
          </a:p>
          <a:p>
            <a:pPr lvl="1"/>
            <a:r>
              <a:rPr lang="en-US" sz="1400" b="1" i="0" dirty="0">
                <a:effectLst/>
                <a:latin typeface="Courier New" panose="02070309020205020404" pitchFamily="49" charset="0"/>
              </a:rPr>
              <a:t>Input: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clk</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lookahead_in</a:t>
            </a:r>
            <a:r>
              <a:rPr lang="en-US" sz="1400" b="0" i="0" dirty="0">
                <a:effectLst/>
                <a:latin typeface="Courier New" panose="02070309020205020404" pitchFamily="49" charset="0"/>
              </a:rPr>
              <a:t> , </a:t>
            </a:r>
            <a:r>
              <a:rPr lang="en-US" sz="1400" b="0" i="0" dirty="0" err="1">
                <a:effectLst/>
                <a:latin typeface="Courier New" panose="02070309020205020404" pitchFamily="49" charset="0"/>
              </a:rPr>
              <a:t>search_in</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match_check</a:t>
            </a:r>
            <a:br>
              <a:rPr lang="en-US" sz="1400" b="0" i="0" dirty="0">
                <a:effectLst/>
                <a:latin typeface="Courier New" panose="02070309020205020404" pitchFamily="49" charset="0"/>
              </a:rPr>
            </a:br>
            <a:r>
              <a:rPr lang="en-US" sz="1400" b="1" i="0" dirty="0">
                <a:effectLst/>
                <a:latin typeface="Courier New" panose="02070309020205020404" pitchFamily="49" charset="0"/>
              </a:rPr>
              <a:t>Output: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match_offset</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match_length</a:t>
            </a:r>
            <a:r>
              <a:rPr lang="en-US" sz="1400" b="0" i="0" dirty="0">
                <a:effectLst/>
                <a:latin typeface="Courier New" panose="02070309020205020404" pitchFamily="49" charset="0"/>
              </a:rPr>
              <a:t>, </a:t>
            </a:r>
            <a:r>
              <a:rPr lang="en-US" sz="1400" b="0" i="0" dirty="0" err="1">
                <a:effectLst/>
                <a:latin typeface="Courier New" panose="02070309020205020404" pitchFamily="49" charset="0"/>
              </a:rPr>
              <a:t>next_char</a:t>
            </a:r>
            <a:endParaRPr lang="en-US" sz="1400" b="0" i="0" dirty="0">
              <a:effectLst/>
              <a:latin typeface="Courier New" panose="02070309020205020404" pitchFamily="49" charset="0"/>
            </a:endParaRPr>
          </a:p>
          <a:p>
            <a:pPr algn="l">
              <a:buNone/>
            </a:pPr>
            <a:r>
              <a:rPr lang="en-US" sz="1400" b="1" i="0" dirty="0">
                <a:effectLst/>
                <a:latin typeface="Arial" panose="020B0604020202020204" pitchFamily="34" charset="0"/>
              </a:rPr>
              <a:t>Functionality</a:t>
            </a:r>
          </a:p>
          <a:p>
            <a:pPr marL="742950" lvl="1" indent="-285750">
              <a:buFont typeface="Arial" panose="020B0604020202020204" pitchFamily="34" charset="0"/>
              <a:buChar char="•"/>
            </a:pPr>
            <a:r>
              <a:rPr lang="en-US" sz="1400" b="1" i="0" dirty="0" err="1">
                <a:effectLst/>
                <a:latin typeface="Arial" panose="020B0604020202020204" pitchFamily="34" charset="0"/>
              </a:rPr>
              <a:t>match_check</a:t>
            </a:r>
            <a:r>
              <a:rPr lang="en-US" sz="1400" b="0" i="0" dirty="0">
                <a:effectLst/>
                <a:latin typeface="Arial" panose="020B0604020202020204" pitchFamily="34" charset="0"/>
              </a:rPr>
              <a:t> HIGH: Compare lookahead pattern against all search buffer positions</a:t>
            </a:r>
          </a:p>
          <a:p>
            <a:pPr marL="742950" lvl="1" indent="-285750">
              <a:buFont typeface="Arial" panose="020B0604020202020204" pitchFamily="34" charset="0"/>
              <a:buChar char="•"/>
            </a:pPr>
            <a:r>
              <a:rPr lang="en-US" sz="1400" b="1" i="0" dirty="0" err="1">
                <a:effectLst/>
                <a:latin typeface="Arial" panose="020B0604020202020204" pitchFamily="34" charset="0"/>
              </a:rPr>
              <a:t>match_offset</a:t>
            </a:r>
            <a:r>
              <a:rPr lang="en-US" sz="1400" b="0" i="0" dirty="0">
                <a:effectLst/>
                <a:latin typeface="Arial" panose="020B0604020202020204" pitchFamily="34" charset="0"/>
              </a:rPr>
              <a:t>: Distance to match start in history (0 = no match)</a:t>
            </a:r>
          </a:p>
          <a:p>
            <a:pPr marL="742950" lvl="1" indent="-285750">
              <a:buFont typeface="Arial" panose="020B0604020202020204" pitchFamily="34" charset="0"/>
              <a:buChar char="•"/>
            </a:pPr>
            <a:r>
              <a:rPr lang="en-US" sz="1400" b="1" i="0" dirty="0" err="1">
                <a:effectLst/>
                <a:latin typeface="Arial" panose="020B0604020202020204" pitchFamily="34" charset="0"/>
              </a:rPr>
              <a:t>match_length</a:t>
            </a:r>
            <a:r>
              <a:rPr lang="en-US" sz="1400" b="0" i="0" dirty="0">
                <a:effectLst/>
                <a:latin typeface="Arial" panose="020B0604020202020204" pitchFamily="34" charset="0"/>
              </a:rPr>
              <a:t>: Number of consecutive matching bytes</a:t>
            </a:r>
          </a:p>
          <a:p>
            <a:pPr marL="742950" lvl="1" indent="-285750">
              <a:buFont typeface="Arial" panose="020B0604020202020204" pitchFamily="34" charset="0"/>
              <a:buChar char="•"/>
            </a:pPr>
            <a:r>
              <a:rPr lang="en-US" sz="1400" b="1" i="0" dirty="0" err="1">
                <a:effectLst/>
                <a:latin typeface="Arial" panose="020B0604020202020204" pitchFamily="34" charset="0"/>
              </a:rPr>
              <a:t>next_char</a:t>
            </a:r>
            <a:r>
              <a:rPr lang="en-US" sz="1400" b="0" i="0" dirty="0">
                <a:effectLst/>
                <a:latin typeface="Arial" panose="020B0604020202020204" pitchFamily="34" charset="0"/>
              </a:rPr>
              <a:t>: First unmatched byte for literal encoding</a:t>
            </a:r>
          </a:p>
        </p:txBody>
      </p:sp>
      <p:sp>
        <p:nvSpPr>
          <p:cNvPr id="9" name="TextBox 8">
            <a:extLst>
              <a:ext uri="{FF2B5EF4-FFF2-40B4-BE49-F238E27FC236}">
                <a16:creationId xmlns:a16="http://schemas.microsoft.com/office/drawing/2014/main" id="{E7F84271-78F2-AED6-2CB3-E44339E6CD7C}"/>
              </a:ext>
            </a:extLst>
          </p:cNvPr>
          <p:cNvSpPr txBox="1"/>
          <p:nvPr/>
        </p:nvSpPr>
        <p:spPr>
          <a:xfrm>
            <a:off x="809090" y="3385602"/>
            <a:ext cx="10718514" cy="369332"/>
          </a:xfrm>
          <a:prstGeom prst="rect">
            <a:avLst/>
          </a:prstGeom>
          <a:solidFill>
            <a:srgbClr val="002060"/>
          </a:solidFill>
        </p:spPr>
        <p:txBody>
          <a:bodyPr wrap="square">
            <a:spAutoFit/>
          </a:bodyPr>
          <a:lstStyle/>
          <a:p>
            <a:pPr algn="l">
              <a:buNone/>
            </a:pPr>
            <a:r>
              <a:rPr lang="en-US" b="1" i="0" dirty="0">
                <a:solidFill>
                  <a:srgbClr val="38BDF8"/>
                </a:solidFill>
                <a:effectLst/>
                <a:latin typeface="Arial" panose="020B0604020202020204" pitchFamily="34" charset="0"/>
              </a:rPr>
              <a:t>Module 4: Match Finder </a:t>
            </a:r>
          </a:p>
        </p:txBody>
      </p:sp>
      <p:pic>
        <p:nvPicPr>
          <p:cNvPr id="11" name="Picture 10">
            <a:extLst>
              <a:ext uri="{FF2B5EF4-FFF2-40B4-BE49-F238E27FC236}">
                <a16:creationId xmlns:a16="http://schemas.microsoft.com/office/drawing/2014/main" id="{166B4E35-B47D-255E-F573-610ED35134A5}"/>
              </a:ext>
            </a:extLst>
          </p:cNvPr>
          <p:cNvPicPr>
            <a:picLocks noChangeAspect="1"/>
          </p:cNvPicPr>
          <p:nvPr/>
        </p:nvPicPr>
        <p:blipFill>
          <a:blip r:embed="rId2"/>
          <a:stretch>
            <a:fillRect/>
          </a:stretch>
        </p:blipFill>
        <p:spPr>
          <a:xfrm>
            <a:off x="5982984" y="1918713"/>
            <a:ext cx="6096000" cy="575339"/>
          </a:xfrm>
          <a:prstGeom prst="rect">
            <a:avLst/>
          </a:prstGeom>
        </p:spPr>
      </p:pic>
    </p:spTree>
    <p:extLst>
      <p:ext uri="{BB962C8B-B14F-4D97-AF65-F5344CB8AC3E}">
        <p14:creationId xmlns:p14="http://schemas.microsoft.com/office/powerpoint/2010/main" val="1874425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52FD7C-EE2E-80BE-5F6A-9D6768FEFD1F}"/>
              </a:ext>
            </a:extLst>
          </p:cNvPr>
          <p:cNvSpPr txBox="1"/>
          <p:nvPr/>
        </p:nvSpPr>
        <p:spPr>
          <a:xfrm>
            <a:off x="1189233" y="900559"/>
            <a:ext cx="9321230" cy="1600438"/>
          </a:xfrm>
          <a:prstGeom prst="rect">
            <a:avLst/>
          </a:prstGeom>
          <a:noFill/>
        </p:spPr>
        <p:txBody>
          <a:bodyPr wrap="square">
            <a:spAutoFit/>
          </a:bodyPr>
          <a:lstStyle/>
          <a:p>
            <a:pPr algn="l">
              <a:buNone/>
            </a:pPr>
            <a:r>
              <a:rPr lang="en-IN" sz="1400" b="1" i="0" dirty="0">
                <a:effectLst/>
                <a:latin typeface="Arial" panose="020B0604020202020204" pitchFamily="34" charset="0"/>
              </a:rPr>
              <a:t>Purpose</a:t>
            </a:r>
          </a:p>
          <a:p>
            <a:pPr lvl="1"/>
            <a:r>
              <a:rPr lang="en-IN" sz="1400" b="0" i="0" dirty="0">
                <a:effectLst/>
                <a:latin typeface="Arial" panose="020B0604020202020204" pitchFamily="34" charset="0"/>
              </a:rPr>
              <a:t>Formats (offset, length, </a:t>
            </a:r>
            <a:r>
              <a:rPr lang="en-IN" sz="1400" b="0" i="0" dirty="0" err="1">
                <a:effectLst/>
                <a:latin typeface="Arial" panose="020B0604020202020204" pitchFamily="34" charset="0"/>
              </a:rPr>
              <a:t>next_char</a:t>
            </a:r>
            <a:r>
              <a:rPr lang="en-IN" sz="1400" b="0" i="0" dirty="0">
                <a:effectLst/>
                <a:latin typeface="Arial" panose="020B0604020202020204" pitchFamily="34" charset="0"/>
              </a:rPr>
              <a:t>) into compressed token output</a:t>
            </a:r>
          </a:p>
          <a:p>
            <a:pPr algn="l">
              <a:buNone/>
            </a:pPr>
            <a:r>
              <a:rPr lang="en-IN" sz="1400" b="1" i="0" dirty="0">
                <a:effectLst/>
                <a:latin typeface="Arial" panose="020B0604020202020204" pitchFamily="34" charset="0"/>
              </a:rPr>
              <a:t>Port Specification</a:t>
            </a:r>
          </a:p>
          <a:p>
            <a:pPr lvl="1"/>
            <a:r>
              <a:rPr lang="en-IN" sz="1400" b="1" i="0" dirty="0">
                <a:effectLst/>
                <a:latin typeface="Courier New" panose="02070309020205020404" pitchFamily="49" charset="0"/>
              </a:rPr>
              <a:t>Input:</a:t>
            </a:r>
            <a:r>
              <a:rPr lang="en-IN" sz="1400" b="0" i="0" dirty="0">
                <a:effectLst/>
                <a:latin typeface="Courier New" panose="02070309020205020404" pitchFamily="49" charset="0"/>
              </a:rPr>
              <a:t> </a:t>
            </a:r>
            <a:r>
              <a:rPr lang="en-IN" sz="1400" b="0" i="0" dirty="0" err="1">
                <a:effectLst/>
                <a:latin typeface="Courier New" panose="02070309020205020404" pitchFamily="49" charset="0"/>
              </a:rPr>
              <a:t>clk</a:t>
            </a:r>
            <a:r>
              <a:rPr lang="en-IN" sz="1400" b="0" i="0" dirty="0">
                <a:effectLst/>
                <a:latin typeface="Courier New" panose="02070309020205020404" pitchFamily="49" charset="0"/>
              </a:rPr>
              <a:t>, </a:t>
            </a:r>
            <a:r>
              <a:rPr lang="en-IN" sz="1400" b="0" i="0" dirty="0" err="1">
                <a:effectLst/>
                <a:latin typeface="Courier New" panose="02070309020205020404" pitchFamily="49" charset="0"/>
              </a:rPr>
              <a:t>rst</a:t>
            </a:r>
            <a:r>
              <a:rPr lang="en-IN" sz="1400" b="0" i="0" dirty="0">
                <a:effectLst/>
                <a:latin typeface="Courier New" panose="02070309020205020404" pitchFamily="49" charset="0"/>
              </a:rPr>
              <a:t>, encode, </a:t>
            </a:r>
            <a:r>
              <a:rPr lang="en-IN" sz="1400" b="0" i="0" dirty="0" err="1">
                <a:effectLst/>
                <a:latin typeface="Courier New" panose="02070309020205020404" pitchFamily="49" charset="0"/>
              </a:rPr>
              <a:t>match_offset</a:t>
            </a:r>
            <a:r>
              <a:rPr lang="en-IN" sz="1400" b="0" i="0" dirty="0">
                <a:effectLst/>
                <a:latin typeface="Courier New" panose="02070309020205020404" pitchFamily="49" charset="0"/>
              </a:rPr>
              <a:t>, </a:t>
            </a:r>
            <a:r>
              <a:rPr lang="en-IN" sz="1400" b="0" i="0" dirty="0" err="1">
                <a:effectLst/>
                <a:latin typeface="Courier New" panose="02070309020205020404" pitchFamily="49" charset="0"/>
              </a:rPr>
              <a:t>match_length</a:t>
            </a:r>
            <a:r>
              <a:rPr lang="en-IN" sz="1400" b="0" i="0" dirty="0">
                <a:effectLst/>
                <a:latin typeface="Courier New" panose="02070309020205020404" pitchFamily="49" charset="0"/>
              </a:rPr>
              <a:t>, </a:t>
            </a:r>
            <a:r>
              <a:rPr lang="en-IN" sz="1400" b="0" i="0" dirty="0" err="1">
                <a:effectLst/>
                <a:latin typeface="Courier New" panose="02070309020205020404" pitchFamily="49" charset="0"/>
              </a:rPr>
              <a:t>next_char</a:t>
            </a:r>
            <a:br>
              <a:rPr lang="en-IN" sz="1400" b="0" i="0" dirty="0">
                <a:effectLst/>
                <a:latin typeface="Courier New" panose="02070309020205020404" pitchFamily="49" charset="0"/>
              </a:rPr>
            </a:br>
            <a:r>
              <a:rPr lang="en-IN" sz="1400" b="1" i="0" dirty="0">
                <a:effectLst/>
                <a:latin typeface="Courier New" panose="02070309020205020404" pitchFamily="49" charset="0"/>
              </a:rPr>
              <a:t>Output:</a:t>
            </a:r>
            <a:r>
              <a:rPr lang="en-IN" sz="1400" b="0" i="0" dirty="0">
                <a:effectLst/>
                <a:latin typeface="Courier New" panose="02070309020205020404" pitchFamily="49" charset="0"/>
              </a:rPr>
              <a:t> </a:t>
            </a:r>
            <a:r>
              <a:rPr lang="en-IN" sz="1400" b="0" i="0" dirty="0" err="1">
                <a:effectLst/>
                <a:latin typeface="Courier New" panose="02070309020205020404" pitchFamily="49" charset="0"/>
              </a:rPr>
              <a:t>encoded_data</a:t>
            </a:r>
            <a:endParaRPr lang="en-IN" sz="1400" b="0" i="0" dirty="0">
              <a:effectLst/>
              <a:latin typeface="Courier New" panose="02070309020205020404" pitchFamily="49" charset="0"/>
            </a:endParaRPr>
          </a:p>
          <a:p>
            <a:pPr algn="l">
              <a:buNone/>
            </a:pPr>
            <a:r>
              <a:rPr lang="en-IN" sz="1400" b="1" i="0" dirty="0">
                <a:effectLst/>
                <a:latin typeface="Arial" panose="020B0604020202020204" pitchFamily="34" charset="0"/>
              </a:rPr>
              <a:t>Token Format</a:t>
            </a:r>
          </a:p>
          <a:p>
            <a:pPr marL="742950" lvl="1" indent="-285750">
              <a:buFont typeface="Arial" panose="020B0604020202020204" pitchFamily="34" charset="0"/>
              <a:buChar char="•"/>
            </a:pPr>
            <a:r>
              <a:rPr lang="en-IN" sz="1400" b="1" i="0" dirty="0">
                <a:effectLst/>
                <a:latin typeface="Arial" panose="020B0604020202020204" pitchFamily="34" charset="0"/>
              </a:rPr>
              <a:t>encode</a:t>
            </a:r>
            <a:r>
              <a:rPr lang="en-IN" sz="1400" b="0" i="0" dirty="0">
                <a:effectLst/>
                <a:latin typeface="Arial" panose="020B0604020202020204" pitchFamily="34" charset="0"/>
              </a:rPr>
              <a:t> signal latches and formats output on clock edge</a:t>
            </a:r>
          </a:p>
        </p:txBody>
      </p:sp>
      <p:sp>
        <p:nvSpPr>
          <p:cNvPr id="5" name="TextBox 4">
            <a:extLst>
              <a:ext uri="{FF2B5EF4-FFF2-40B4-BE49-F238E27FC236}">
                <a16:creationId xmlns:a16="http://schemas.microsoft.com/office/drawing/2014/main" id="{EF2471AC-8E55-EAAA-65D5-C4DE194E644B}"/>
              </a:ext>
            </a:extLst>
          </p:cNvPr>
          <p:cNvSpPr txBox="1"/>
          <p:nvPr/>
        </p:nvSpPr>
        <p:spPr>
          <a:xfrm>
            <a:off x="613880" y="370138"/>
            <a:ext cx="10708241" cy="369332"/>
          </a:xfrm>
          <a:prstGeom prst="rect">
            <a:avLst/>
          </a:prstGeom>
          <a:solidFill>
            <a:srgbClr val="002060"/>
          </a:solidFill>
        </p:spPr>
        <p:txBody>
          <a:bodyPr wrap="square">
            <a:spAutoFit/>
          </a:bodyPr>
          <a:lstStyle/>
          <a:p>
            <a:pPr algn="l">
              <a:buNone/>
            </a:pPr>
            <a:r>
              <a:rPr lang="en-IN" b="1" i="0" dirty="0">
                <a:solidFill>
                  <a:srgbClr val="38BDF8"/>
                </a:solidFill>
                <a:effectLst/>
                <a:latin typeface="Arial" panose="020B0604020202020204" pitchFamily="34" charset="0"/>
              </a:rPr>
              <a:t>Module 5: Encoder</a:t>
            </a:r>
          </a:p>
        </p:txBody>
      </p:sp>
      <p:sp>
        <p:nvSpPr>
          <p:cNvPr id="7" name="TextBox 6">
            <a:extLst>
              <a:ext uri="{FF2B5EF4-FFF2-40B4-BE49-F238E27FC236}">
                <a16:creationId xmlns:a16="http://schemas.microsoft.com/office/drawing/2014/main" id="{E65C8F9F-D03A-A928-F692-CE7F5686EACE}"/>
              </a:ext>
            </a:extLst>
          </p:cNvPr>
          <p:cNvSpPr txBox="1"/>
          <p:nvPr/>
        </p:nvSpPr>
        <p:spPr>
          <a:xfrm>
            <a:off x="613880" y="3096181"/>
            <a:ext cx="10636321" cy="369332"/>
          </a:xfrm>
          <a:prstGeom prst="rect">
            <a:avLst/>
          </a:prstGeom>
          <a:solidFill>
            <a:srgbClr val="002060"/>
          </a:solidFill>
        </p:spPr>
        <p:txBody>
          <a:bodyPr wrap="square">
            <a:spAutoFit/>
          </a:bodyPr>
          <a:lstStyle/>
          <a:p>
            <a:pPr algn="l">
              <a:buNone/>
            </a:pPr>
            <a:r>
              <a:rPr lang="en-IN" b="1" i="0" dirty="0">
                <a:solidFill>
                  <a:srgbClr val="38BDF8"/>
                </a:solidFill>
                <a:effectLst/>
                <a:latin typeface="Arial" panose="020B0604020202020204" pitchFamily="34" charset="0"/>
              </a:rPr>
              <a:t>Module 6: Controller (FSM)</a:t>
            </a:r>
          </a:p>
        </p:txBody>
      </p:sp>
      <p:sp>
        <p:nvSpPr>
          <p:cNvPr id="9" name="TextBox 8">
            <a:extLst>
              <a:ext uri="{FF2B5EF4-FFF2-40B4-BE49-F238E27FC236}">
                <a16:creationId xmlns:a16="http://schemas.microsoft.com/office/drawing/2014/main" id="{952EACD3-CCA7-C35F-6C19-D034F1CB45AA}"/>
              </a:ext>
            </a:extLst>
          </p:cNvPr>
          <p:cNvSpPr txBox="1"/>
          <p:nvPr/>
        </p:nvSpPr>
        <p:spPr>
          <a:xfrm>
            <a:off x="1263721" y="3566612"/>
            <a:ext cx="9955659" cy="2739211"/>
          </a:xfrm>
          <a:prstGeom prst="rect">
            <a:avLst/>
          </a:prstGeom>
          <a:noFill/>
        </p:spPr>
        <p:txBody>
          <a:bodyPr wrap="square">
            <a:spAutoFit/>
          </a:bodyPr>
          <a:lstStyle/>
          <a:p>
            <a:r>
              <a:rPr lang="en-US" sz="1400" b="1" dirty="0"/>
              <a:t>Port Specification</a:t>
            </a:r>
          </a:p>
          <a:p>
            <a:pPr lvl="1"/>
            <a:r>
              <a:rPr lang="en-US" sz="1400" b="1" dirty="0"/>
              <a:t>Input:</a:t>
            </a:r>
            <a:r>
              <a:rPr lang="en-US" sz="1400" dirty="0"/>
              <a:t> </a:t>
            </a:r>
            <a:r>
              <a:rPr lang="en-US" sz="1400" dirty="0" err="1"/>
              <a:t>clk</a:t>
            </a:r>
            <a:r>
              <a:rPr lang="en-US" sz="1400" dirty="0"/>
              <a:t>, </a:t>
            </a:r>
            <a:r>
              <a:rPr lang="en-US" sz="1400" dirty="0" err="1"/>
              <a:t>rst</a:t>
            </a:r>
            <a:r>
              <a:rPr lang="en-US" sz="1400" dirty="0"/>
              <a:t>, start, </a:t>
            </a:r>
            <a:r>
              <a:rPr lang="en-US" sz="1400" dirty="0" err="1"/>
              <a:t>eqz</a:t>
            </a:r>
            <a:r>
              <a:rPr lang="en-US" sz="1400" dirty="0"/>
              <a:t> (length=0), </a:t>
            </a:r>
            <a:r>
              <a:rPr lang="en-US" sz="1400" dirty="0" err="1"/>
              <a:t>end_of_data</a:t>
            </a:r>
            <a:br>
              <a:rPr lang="en-US" sz="1400" dirty="0"/>
            </a:br>
            <a:r>
              <a:rPr lang="en-US" sz="1400" b="1" dirty="0"/>
              <a:t>Output:</a:t>
            </a:r>
            <a:r>
              <a:rPr lang="en-US" sz="1400" dirty="0"/>
              <a:t> </a:t>
            </a:r>
            <a:r>
              <a:rPr lang="en-US" sz="1400" dirty="0" err="1"/>
              <a:t>load_input</a:t>
            </a:r>
            <a:r>
              <a:rPr lang="en-US" sz="1400" dirty="0"/>
              <a:t>, </a:t>
            </a:r>
            <a:r>
              <a:rPr lang="en-US" sz="1400" dirty="0" err="1"/>
              <a:t>load_lookahead</a:t>
            </a:r>
            <a:r>
              <a:rPr lang="en-US" sz="1400" dirty="0"/>
              <a:t>, </a:t>
            </a:r>
            <a:r>
              <a:rPr lang="en-US" sz="1400" dirty="0" err="1"/>
              <a:t>load_search</a:t>
            </a:r>
            <a:r>
              <a:rPr lang="en-US" sz="1400" dirty="0"/>
              <a:t>, </a:t>
            </a:r>
            <a:r>
              <a:rPr lang="en-US" sz="1400" dirty="0" err="1"/>
              <a:t>match_check</a:t>
            </a:r>
            <a:r>
              <a:rPr lang="en-US" sz="1400" dirty="0"/>
              <a:t>, encode, </a:t>
            </a:r>
            <a:r>
              <a:rPr lang="en-US" sz="1400" dirty="0" err="1"/>
              <a:t>slide_search</a:t>
            </a:r>
            <a:r>
              <a:rPr lang="en-US" sz="1400" dirty="0"/>
              <a:t>, done, </a:t>
            </a:r>
            <a:r>
              <a:rPr lang="en-US" sz="1400" dirty="0" err="1"/>
              <a:t>ld_length</a:t>
            </a:r>
            <a:r>
              <a:rPr lang="en-US" sz="1400" dirty="0"/>
              <a:t>, dec</a:t>
            </a:r>
          </a:p>
          <a:p>
            <a:pPr algn="l">
              <a:buNone/>
            </a:pPr>
            <a:r>
              <a:rPr lang="en-IN" sz="1400" b="1" i="0" dirty="0">
                <a:effectLst/>
                <a:latin typeface="Arial" panose="020B0604020202020204" pitchFamily="34" charset="0"/>
              </a:rPr>
              <a:t>FSM States &amp; Control Signals</a:t>
            </a:r>
          </a:p>
          <a:p>
            <a:pPr marL="742950" lvl="1" indent="-285750">
              <a:buFont typeface="Arial" panose="020B0604020202020204" pitchFamily="34" charset="0"/>
              <a:buChar char="•"/>
            </a:pPr>
            <a:r>
              <a:rPr lang="en-IN" sz="1400" b="1" i="0" dirty="0">
                <a:effectLst/>
                <a:latin typeface="Arial" panose="020B0604020202020204" pitchFamily="34" charset="0"/>
              </a:rPr>
              <a:t>IDLE</a:t>
            </a:r>
            <a:r>
              <a:rPr lang="en-IN" sz="1400" b="0" i="0" dirty="0">
                <a:effectLst/>
                <a:latin typeface="Arial" panose="020B0604020202020204" pitchFamily="34" charset="0"/>
              </a:rPr>
              <a:t>: Wait for start signal</a:t>
            </a:r>
          </a:p>
          <a:p>
            <a:pPr marL="742950" lvl="1" indent="-285750">
              <a:buFont typeface="Arial" panose="020B0604020202020204" pitchFamily="34" charset="0"/>
              <a:buChar char="•"/>
            </a:pPr>
            <a:r>
              <a:rPr lang="en-IN" sz="1400" b="1" i="0" dirty="0">
                <a:effectLst/>
                <a:latin typeface="Arial" panose="020B0604020202020204" pitchFamily="34" charset="0"/>
              </a:rPr>
              <a:t>LOAD_INPUT</a:t>
            </a:r>
            <a:r>
              <a:rPr lang="en-IN" sz="1400" b="0" i="0" dirty="0">
                <a:effectLst/>
                <a:latin typeface="Arial" panose="020B0604020202020204" pitchFamily="34" charset="0"/>
              </a:rPr>
              <a:t>: </a:t>
            </a:r>
            <a:r>
              <a:rPr lang="en-IN" sz="1400" b="0" i="0" dirty="0" err="1">
                <a:effectLst/>
                <a:latin typeface="Arial" panose="020B0604020202020204" pitchFamily="34" charset="0"/>
              </a:rPr>
              <a:t>load_input</a:t>
            </a:r>
            <a:r>
              <a:rPr lang="en-IN" sz="1400" b="0" i="0" dirty="0">
                <a:effectLst/>
                <a:latin typeface="Arial" panose="020B0604020202020204" pitchFamily="34" charset="0"/>
              </a:rPr>
              <a:t>=1, read bytes into Lookahead</a:t>
            </a:r>
          </a:p>
          <a:p>
            <a:pPr marL="742950" lvl="1" indent="-285750">
              <a:buFont typeface="Arial" panose="020B0604020202020204" pitchFamily="34" charset="0"/>
              <a:buChar char="•"/>
            </a:pPr>
            <a:r>
              <a:rPr lang="en-IN" sz="1400" b="1" i="0" dirty="0">
                <a:effectLst/>
                <a:latin typeface="Arial" panose="020B0604020202020204" pitchFamily="34" charset="0"/>
              </a:rPr>
              <a:t>MATCH_SEARCH</a:t>
            </a:r>
            <a:r>
              <a:rPr lang="en-IN" sz="1400" b="0" i="0" dirty="0">
                <a:effectLst/>
                <a:latin typeface="Arial" panose="020B0604020202020204" pitchFamily="34" charset="0"/>
              </a:rPr>
              <a:t>: </a:t>
            </a:r>
            <a:r>
              <a:rPr lang="en-IN" sz="1400" b="0" i="0" dirty="0" err="1">
                <a:effectLst/>
                <a:latin typeface="Arial" panose="020B0604020202020204" pitchFamily="34" charset="0"/>
              </a:rPr>
              <a:t>match_check</a:t>
            </a:r>
            <a:r>
              <a:rPr lang="en-IN" sz="1400" b="0" i="0" dirty="0">
                <a:effectLst/>
                <a:latin typeface="Arial" panose="020B0604020202020204" pitchFamily="34" charset="0"/>
              </a:rPr>
              <a:t>=1, compare patterns</a:t>
            </a:r>
          </a:p>
          <a:p>
            <a:pPr marL="742950" lvl="1" indent="-285750">
              <a:buFont typeface="Arial" panose="020B0604020202020204" pitchFamily="34" charset="0"/>
              <a:buChar char="•"/>
            </a:pPr>
            <a:r>
              <a:rPr lang="en-IN" sz="1400" b="1" i="0" dirty="0">
                <a:effectLst/>
                <a:latin typeface="Arial" panose="020B0604020202020204" pitchFamily="34" charset="0"/>
              </a:rPr>
              <a:t>ENCODE_DATA</a:t>
            </a:r>
            <a:r>
              <a:rPr lang="en-IN" sz="1400" b="0" i="0" dirty="0">
                <a:effectLst/>
                <a:latin typeface="Arial" panose="020B0604020202020204" pitchFamily="34" charset="0"/>
              </a:rPr>
              <a:t>: encode=1, output tokens</a:t>
            </a:r>
          </a:p>
          <a:p>
            <a:pPr marL="742950" lvl="1" indent="-285750">
              <a:buFont typeface="Arial" panose="020B0604020202020204" pitchFamily="34" charset="0"/>
              <a:buChar char="•"/>
            </a:pPr>
            <a:r>
              <a:rPr lang="en-IN" sz="1400" b="1" i="0" dirty="0">
                <a:effectLst/>
                <a:latin typeface="Arial" panose="020B0604020202020204" pitchFamily="34" charset="0"/>
              </a:rPr>
              <a:t>SLIDE</a:t>
            </a:r>
            <a:r>
              <a:rPr lang="en-IN" sz="1400" b="0" i="0" dirty="0">
                <a:effectLst/>
                <a:latin typeface="Arial" panose="020B0604020202020204" pitchFamily="34" charset="0"/>
              </a:rPr>
              <a:t>: </a:t>
            </a:r>
            <a:r>
              <a:rPr lang="en-IN" sz="1400" b="0" i="0" dirty="0" err="1">
                <a:effectLst/>
                <a:latin typeface="Arial" panose="020B0604020202020204" pitchFamily="34" charset="0"/>
              </a:rPr>
              <a:t>slide_search</a:t>
            </a:r>
            <a:r>
              <a:rPr lang="en-IN" sz="1400" b="0" i="0" dirty="0">
                <a:effectLst/>
                <a:latin typeface="Arial" panose="020B0604020202020204" pitchFamily="34" charset="0"/>
              </a:rPr>
              <a:t>=1, shift windows forward</a:t>
            </a:r>
          </a:p>
          <a:p>
            <a:pPr marL="742950" lvl="1" indent="-285750">
              <a:buFont typeface="Arial" panose="020B0604020202020204" pitchFamily="34" charset="0"/>
              <a:buChar char="•"/>
            </a:pPr>
            <a:r>
              <a:rPr lang="en-IN" sz="1400" b="1" i="0" dirty="0">
                <a:effectLst/>
                <a:latin typeface="Arial" panose="020B0604020202020204" pitchFamily="34" charset="0"/>
              </a:rPr>
              <a:t>DONE</a:t>
            </a:r>
            <a:r>
              <a:rPr lang="en-IN" sz="1400" b="0" i="0" dirty="0">
                <a:effectLst/>
                <a:latin typeface="Arial" panose="020B0604020202020204" pitchFamily="34" charset="0"/>
              </a:rPr>
              <a:t>: done=1 when </a:t>
            </a:r>
            <a:r>
              <a:rPr lang="en-IN" sz="1400" b="0" i="0" dirty="0" err="1">
                <a:effectLst/>
                <a:latin typeface="Arial" panose="020B0604020202020204" pitchFamily="34" charset="0"/>
              </a:rPr>
              <a:t>end_of_data</a:t>
            </a:r>
            <a:r>
              <a:rPr lang="en-IN" sz="1400" b="0" i="0" dirty="0">
                <a:effectLst/>
                <a:latin typeface="Arial" panose="020B0604020202020204" pitchFamily="34" charset="0"/>
              </a:rPr>
              <a:t> HIGH</a:t>
            </a:r>
          </a:p>
          <a:p>
            <a:pPr lvl="1"/>
            <a:endParaRPr lang="en-IN" sz="1400" b="0" i="0" dirty="0">
              <a:effectLst/>
              <a:latin typeface="Arial" panose="020B0604020202020204" pitchFamily="34" charset="0"/>
            </a:endParaRPr>
          </a:p>
          <a:p>
            <a:pPr lvl="1"/>
            <a:r>
              <a:rPr lang="en-US" b="1" dirty="0"/>
              <a:t>Control-driven</a:t>
            </a:r>
            <a:r>
              <a:rPr lang="en-US" dirty="0"/>
              <a:t>: Each module waits for control signals from FSM</a:t>
            </a:r>
            <a:endParaRPr lang="en-IN" sz="1400" b="0" i="0" dirty="0">
              <a:effectLst/>
              <a:latin typeface="Arial" panose="020B0604020202020204" pitchFamily="34" charset="0"/>
            </a:endParaRPr>
          </a:p>
        </p:txBody>
      </p:sp>
    </p:spTree>
    <p:extLst>
      <p:ext uri="{BB962C8B-B14F-4D97-AF65-F5344CB8AC3E}">
        <p14:creationId xmlns:p14="http://schemas.microsoft.com/office/powerpoint/2010/main" val="2847633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2DE3B-493A-162D-627C-6F2EA3E192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46B88C-6059-DFAE-E97D-18A99B9A5B5B}"/>
              </a:ext>
            </a:extLst>
          </p:cNvPr>
          <p:cNvPicPr>
            <a:picLocks noChangeAspect="1"/>
          </p:cNvPicPr>
          <p:nvPr/>
        </p:nvPicPr>
        <p:blipFill>
          <a:blip r:embed="rId2"/>
          <a:stretch>
            <a:fillRect/>
          </a:stretch>
        </p:blipFill>
        <p:spPr>
          <a:xfrm>
            <a:off x="530082" y="984116"/>
            <a:ext cx="7659169" cy="5506218"/>
          </a:xfrm>
          <a:prstGeom prst="rect">
            <a:avLst/>
          </a:prstGeom>
        </p:spPr>
      </p:pic>
      <p:sp>
        <p:nvSpPr>
          <p:cNvPr id="6" name="Title 1">
            <a:extLst>
              <a:ext uri="{FF2B5EF4-FFF2-40B4-BE49-F238E27FC236}">
                <a16:creationId xmlns:a16="http://schemas.microsoft.com/office/drawing/2014/main" id="{6393686F-D0A8-EE25-5BB4-4EB03D1CE94B}"/>
              </a:ext>
            </a:extLst>
          </p:cNvPr>
          <p:cNvSpPr>
            <a:spLocks noGrp="1"/>
          </p:cNvSpPr>
          <p:nvPr>
            <p:ph type="title"/>
          </p:nvPr>
        </p:nvSpPr>
        <p:spPr>
          <a:xfrm>
            <a:off x="675619" y="-133563"/>
            <a:ext cx="10515600" cy="1325563"/>
          </a:xfrm>
        </p:spPr>
        <p:txBody>
          <a:bodyPr>
            <a:normAutofit/>
          </a:bodyPr>
          <a:lstStyle/>
          <a:p>
            <a:r>
              <a:rPr lang="en-US" sz="4000" dirty="0">
                <a:latin typeface="Times New Roman" panose="02020603050405020304" pitchFamily="18" charset="0"/>
                <a:cs typeface="Times New Roman" panose="02020603050405020304" pitchFamily="18" charset="0"/>
              </a:rPr>
              <a:t>LZ77 Algorithm – Controller</a:t>
            </a:r>
          </a:p>
        </p:txBody>
      </p:sp>
      <p:sp>
        <p:nvSpPr>
          <p:cNvPr id="7" name="Rectangle 6">
            <a:extLst>
              <a:ext uri="{FF2B5EF4-FFF2-40B4-BE49-F238E27FC236}">
                <a16:creationId xmlns:a16="http://schemas.microsoft.com/office/drawing/2014/main" id="{98717BD4-CEB8-9801-0D62-66D98C46DD06}"/>
              </a:ext>
            </a:extLst>
          </p:cNvPr>
          <p:cNvSpPr/>
          <p:nvPr/>
        </p:nvSpPr>
        <p:spPr>
          <a:xfrm>
            <a:off x="65879" y="942751"/>
            <a:ext cx="12080789" cy="4571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pic>
        <p:nvPicPr>
          <p:cNvPr id="9" name="Picture 8">
            <a:extLst>
              <a:ext uri="{FF2B5EF4-FFF2-40B4-BE49-F238E27FC236}">
                <a16:creationId xmlns:a16="http://schemas.microsoft.com/office/drawing/2014/main" id="{69130459-0C73-2864-5B42-397D79E1F67E}"/>
              </a:ext>
            </a:extLst>
          </p:cNvPr>
          <p:cNvPicPr>
            <a:picLocks noChangeAspect="1"/>
          </p:cNvPicPr>
          <p:nvPr/>
        </p:nvPicPr>
        <p:blipFill>
          <a:blip r:embed="rId3"/>
          <a:stretch>
            <a:fillRect/>
          </a:stretch>
        </p:blipFill>
        <p:spPr>
          <a:xfrm>
            <a:off x="8188503" y="1251485"/>
            <a:ext cx="2762621" cy="5483225"/>
          </a:xfrm>
          <a:prstGeom prst="rect">
            <a:avLst/>
          </a:prstGeom>
        </p:spPr>
      </p:pic>
    </p:spTree>
    <p:extLst>
      <p:ext uri="{BB962C8B-B14F-4D97-AF65-F5344CB8AC3E}">
        <p14:creationId xmlns:p14="http://schemas.microsoft.com/office/powerpoint/2010/main" val="3079572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AAB055-7325-1167-CAD8-2808B62B33E5}"/>
              </a:ext>
            </a:extLst>
          </p:cNvPr>
          <p:cNvSpPr txBox="1"/>
          <p:nvPr/>
        </p:nvSpPr>
        <p:spPr>
          <a:xfrm>
            <a:off x="624154" y="339315"/>
            <a:ext cx="10626047" cy="379876"/>
          </a:xfrm>
          <a:prstGeom prst="rect">
            <a:avLst/>
          </a:prstGeom>
          <a:solidFill>
            <a:srgbClr val="002060"/>
          </a:solidFill>
        </p:spPr>
        <p:txBody>
          <a:bodyPr wrap="square">
            <a:spAutoFit/>
          </a:bodyPr>
          <a:lstStyle/>
          <a:p>
            <a:pPr algn="l">
              <a:buNone/>
            </a:pPr>
            <a:r>
              <a:rPr lang="en-US" b="1" i="0" dirty="0">
                <a:solidFill>
                  <a:srgbClr val="38BDF8"/>
                </a:solidFill>
                <a:effectLst/>
                <a:latin typeface="Arial" panose="020B0604020202020204" pitchFamily="34" charset="0"/>
              </a:rPr>
              <a:t>Module 7: Support Modules (Counter, Check)</a:t>
            </a:r>
          </a:p>
        </p:txBody>
      </p:sp>
      <p:sp>
        <p:nvSpPr>
          <p:cNvPr id="5" name="TextBox 4">
            <a:extLst>
              <a:ext uri="{FF2B5EF4-FFF2-40B4-BE49-F238E27FC236}">
                <a16:creationId xmlns:a16="http://schemas.microsoft.com/office/drawing/2014/main" id="{3D15512C-BFA8-DE6B-7C1B-4A1FFD8F810D}"/>
              </a:ext>
            </a:extLst>
          </p:cNvPr>
          <p:cNvSpPr txBox="1"/>
          <p:nvPr/>
        </p:nvSpPr>
        <p:spPr>
          <a:xfrm>
            <a:off x="1059094" y="930686"/>
            <a:ext cx="5036906" cy="954107"/>
          </a:xfrm>
          <a:prstGeom prst="rect">
            <a:avLst/>
          </a:prstGeom>
          <a:noFill/>
        </p:spPr>
        <p:txBody>
          <a:bodyPr wrap="square">
            <a:spAutoFit/>
          </a:bodyPr>
          <a:lstStyle/>
          <a:p>
            <a:pPr algn="l">
              <a:buNone/>
            </a:pPr>
            <a:r>
              <a:rPr lang="en-US" sz="1400" b="1" i="0" dirty="0">
                <a:effectLst/>
                <a:latin typeface="Arial" panose="020B0604020202020204" pitchFamily="34" charset="0"/>
              </a:rPr>
              <a:t>Counter Module</a:t>
            </a:r>
          </a:p>
          <a:p>
            <a:pPr algn="l">
              <a:buNone/>
            </a:pPr>
            <a:r>
              <a:rPr lang="en-US" sz="1400" b="0" i="0" dirty="0" err="1">
                <a:effectLst/>
                <a:latin typeface="Courier New" panose="02070309020205020404" pitchFamily="49" charset="0"/>
              </a:rPr>
              <a:t>load_length</a:t>
            </a:r>
            <a:r>
              <a:rPr lang="en-US" sz="1400" b="0" i="0" dirty="0">
                <a:effectLst/>
                <a:latin typeface="Courier New" panose="02070309020205020404" pitchFamily="49" charset="0"/>
              </a:rPr>
              <a:t>, dec, </a:t>
            </a:r>
            <a:r>
              <a:rPr lang="en-US" sz="1400" b="0" i="0" dirty="0" err="1">
                <a:effectLst/>
                <a:latin typeface="Courier New" panose="02070309020205020404" pitchFamily="49" charset="0"/>
              </a:rPr>
              <a:t>match_length</a:t>
            </a:r>
            <a:endParaRPr lang="en-US" sz="1400" b="0" i="0" dirty="0">
              <a:effectLst/>
              <a:latin typeface="Courier New" panose="02070309020205020404" pitchFamily="49" charset="0"/>
            </a:endParaRPr>
          </a:p>
          <a:p>
            <a:pPr algn="l">
              <a:buNone/>
            </a:pPr>
            <a:r>
              <a:rPr lang="en-US" sz="1400" b="0" i="0" dirty="0">
                <a:effectLst/>
                <a:latin typeface="Arial" panose="020B0604020202020204" pitchFamily="34" charset="0"/>
              </a:rPr>
              <a:t>Tracks match length during sliding. </a:t>
            </a:r>
            <a:r>
              <a:rPr lang="en-US" sz="1400" b="1" i="0" dirty="0" err="1">
                <a:effectLst/>
                <a:latin typeface="Arial" panose="020B0604020202020204" pitchFamily="34" charset="0"/>
              </a:rPr>
              <a:t>ld_length</a:t>
            </a:r>
            <a:r>
              <a:rPr lang="en-US" sz="1400" b="0" i="0" dirty="0">
                <a:effectLst/>
                <a:latin typeface="Arial" panose="020B0604020202020204" pitchFamily="34" charset="0"/>
              </a:rPr>
              <a:t> loads counter with </a:t>
            </a:r>
            <a:r>
              <a:rPr lang="en-US" sz="1400" b="0" i="0" dirty="0" err="1">
                <a:effectLst/>
                <a:latin typeface="Arial" panose="020B0604020202020204" pitchFamily="34" charset="0"/>
              </a:rPr>
              <a:t>match_length</a:t>
            </a:r>
            <a:r>
              <a:rPr lang="en-US" sz="1400" b="0" i="0" dirty="0">
                <a:effectLst/>
                <a:latin typeface="Arial" panose="020B0604020202020204" pitchFamily="34" charset="0"/>
              </a:rPr>
              <a:t>, </a:t>
            </a:r>
            <a:r>
              <a:rPr lang="en-US" sz="1400" b="1" i="0" dirty="0">
                <a:effectLst/>
                <a:latin typeface="Arial" panose="020B0604020202020204" pitchFamily="34" charset="0"/>
              </a:rPr>
              <a:t>dec</a:t>
            </a:r>
            <a:r>
              <a:rPr lang="en-US" sz="1400" b="0" i="0" dirty="0">
                <a:effectLst/>
                <a:latin typeface="Arial" panose="020B0604020202020204" pitchFamily="34" charset="0"/>
              </a:rPr>
              <a:t> decrements each cycle.</a:t>
            </a:r>
          </a:p>
        </p:txBody>
      </p:sp>
      <p:sp>
        <p:nvSpPr>
          <p:cNvPr id="7" name="TextBox 6">
            <a:extLst>
              <a:ext uri="{FF2B5EF4-FFF2-40B4-BE49-F238E27FC236}">
                <a16:creationId xmlns:a16="http://schemas.microsoft.com/office/drawing/2014/main" id="{B0552FA8-2B50-74FE-1132-4488B7953830}"/>
              </a:ext>
            </a:extLst>
          </p:cNvPr>
          <p:cNvSpPr txBox="1"/>
          <p:nvPr/>
        </p:nvSpPr>
        <p:spPr>
          <a:xfrm>
            <a:off x="6353709" y="894524"/>
            <a:ext cx="4985536" cy="954107"/>
          </a:xfrm>
          <a:prstGeom prst="rect">
            <a:avLst/>
          </a:prstGeom>
          <a:noFill/>
        </p:spPr>
        <p:txBody>
          <a:bodyPr wrap="square">
            <a:spAutoFit/>
          </a:bodyPr>
          <a:lstStyle/>
          <a:p>
            <a:r>
              <a:rPr lang="en-US" sz="1400" b="1" dirty="0"/>
              <a:t>Check Units</a:t>
            </a:r>
          </a:p>
          <a:p>
            <a:r>
              <a:rPr lang="en-US" sz="1400" dirty="0" err="1"/>
              <a:t>check_eql</a:t>
            </a:r>
            <a:r>
              <a:rPr lang="en-US" sz="1400" dirty="0"/>
              <a:t> (</a:t>
            </a:r>
            <a:r>
              <a:rPr lang="en-US" sz="1400" dirty="0" err="1"/>
              <a:t>eqz</a:t>
            </a:r>
            <a:r>
              <a:rPr lang="en-US" sz="1400" dirty="0"/>
              <a:t>), </a:t>
            </a:r>
            <a:r>
              <a:rPr lang="en-US" sz="1400" dirty="0" err="1"/>
              <a:t>check_end</a:t>
            </a:r>
            <a:r>
              <a:rPr lang="en-US" sz="1400" dirty="0"/>
              <a:t> (</a:t>
            </a:r>
            <a:r>
              <a:rPr lang="en-US" sz="1400" dirty="0" err="1"/>
              <a:t>end_of_data</a:t>
            </a:r>
            <a:r>
              <a:rPr lang="en-US" sz="1400" dirty="0"/>
              <a:t>)</a:t>
            </a:r>
          </a:p>
          <a:p>
            <a:r>
              <a:rPr lang="en-US" sz="1400" b="1" dirty="0" err="1"/>
              <a:t>eqz</a:t>
            </a:r>
            <a:r>
              <a:rPr lang="en-US" sz="1400" dirty="0"/>
              <a:t> = counter is zero. </a:t>
            </a:r>
            <a:r>
              <a:rPr lang="en-US" sz="1400" b="1" dirty="0" err="1"/>
              <a:t>end_of_data</a:t>
            </a:r>
            <a:r>
              <a:rPr lang="en-US" sz="1400" dirty="0"/>
              <a:t> = all lookahead bytes consumed.</a:t>
            </a:r>
          </a:p>
        </p:txBody>
      </p:sp>
      <p:sp>
        <p:nvSpPr>
          <p:cNvPr id="9" name="TextBox 8">
            <a:extLst>
              <a:ext uri="{FF2B5EF4-FFF2-40B4-BE49-F238E27FC236}">
                <a16:creationId xmlns:a16="http://schemas.microsoft.com/office/drawing/2014/main" id="{7CFD0791-5C10-8CF7-850D-21377C2DB356}"/>
              </a:ext>
            </a:extLst>
          </p:cNvPr>
          <p:cNvSpPr txBox="1"/>
          <p:nvPr/>
        </p:nvSpPr>
        <p:spPr>
          <a:xfrm>
            <a:off x="871591" y="2856485"/>
            <a:ext cx="10448818" cy="4524315"/>
          </a:xfrm>
          <a:prstGeom prst="rect">
            <a:avLst/>
          </a:prstGeom>
          <a:noFill/>
        </p:spPr>
        <p:txBody>
          <a:bodyPr wrap="square">
            <a:spAutoFit/>
          </a:bodyPr>
          <a:lstStyle/>
          <a:p>
            <a:r>
              <a:rPr lang="en-US" b="1" dirty="0"/>
              <a:t>Purpose</a:t>
            </a:r>
          </a:p>
          <a:p>
            <a:pPr marL="285750" indent="-285750">
              <a:buFont typeface="Arial" panose="020B0604020202020204" pitchFamily="34" charset="0"/>
              <a:buChar char="•"/>
            </a:pPr>
            <a:r>
              <a:rPr lang="en-US" dirty="0"/>
              <a:t>Implements the complete LZ77 data path, connecting all submodules: input buffer, lookahead buffer, search buffer, match finder, encoder, counter, and check units.</a:t>
            </a:r>
          </a:p>
          <a:p>
            <a:pPr marL="285750" indent="-285750">
              <a:buFont typeface="Arial" panose="020B0604020202020204" pitchFamily="34" charset="0"/>
              <a:buChar char="•"/>
            </a:pPr>
            <a:r>
              <a:rPr lang="en-US" dirty="0"/>
              <a:t>Performs the actual compression operations while the controller FSM only generates control signals.</a:t>
            </a:r>
          </a:p>
          <a:p>
            <a:endParaRPr lang="en-US" dirty="0"/>
          </a:p>
          <a:p>
            <a:r>
              <a:rPr lang="en-US" b="1" dirty="0"/>
              <a:t>Internal Functioning </a:t>
            </a:r>
          </a:p>
          <a:p>
            <a:pPr marL="285750" indent="-285750">
              <a:buFont typeface="Arial" panose="020B0604020202020204" pitchFamily="34" charset="0"/>
              <a:buChar char="•"/>
            </a:pPr>
            <a:r>
              <a:rPr lang="en-US" b="1" dirty="0" err="1"/>
              <a:t>input_buffer</a:t>
            </a:r>
            <a:r>
              <a:rPr lang="en-US" b="1" dirty="0"/>
              <a:t> </a:t>
            </a:r>
            <a:r>
              <a:rPr lang="en-US" dirty="0"/>
              <a:t>receives </a:t>
            </a:r>
            <a:r>
              <a:rPr lang="en-US" dirty="0" err="1"/>
              <a:t>data_in</a:t>
            </a:r>
            <a:r>
              <a:rPr lang="en-US" dirty="0"/>
              <a:t> when </a:t>
            </a:r>
            <a:r>
              <a:rPr lang="en-US" dirty="0" err="1"/>
              <a:t>load_input</a:t>
            </a:r>
            <a:r>
              <a:rPr lang="en-US" dirty="0"/>
              <a:t>=1 and feeds </a:t>
            </a:r>
            <a:r>
              <a:rPr lang="en-US" dirty="0" err="1"/>
              <a:t>lookahead_buffer</a:t>
            </a:r>
            <a:r>
              <a:rPr lang="en-US" dirty="0"/>
              <a:t>.</a:t>
            </a:r>
          </a:p>
          <a:p>
            <a:pPr marL="285750" indent="-285750">
              <a:buFont typeface="Arial" panose="020B0604020202020204" pitchFamily="34" charset="0"/>
              <a:buChar char="•"/>
            </a:pPr>
            <a:r>
              <a:rPr lang="en-US" b="1" dirty="0" err="1"/>
              <a:t>lookahead_buffer</a:t>
            </a:r>
            <a:r>
              <a:rPr lang="en-US" dirty="0"/>
              <a:t> and </a:t>
            </a:r>
            <a:r>
              <a:rPr lang="en-US" dirty="0" err="1"/>
              <a:t>search_buffer</a:t>
            </a:r>
            <a:r>
              <a:rPr lang="en-US" dirty="0"/>
              <a:t> provide </a:t>
            </a:r>
            <a:r>
              <a:rPr lang="en-US" dirty="0" err="1"/>
              <a:t>lookahead_in</a:t>
            </a:r>
            <a:r>
              <a:rPr lang="en-US" dirty="0"/>
              <a:t> and </a:t>
            </a:r>
            <a:r>
              <a:rPr lang="en-US" dirty="0" err="1"/>
              <a:t>search_in</a:t>
            </a:r>
            <a:r>
              <a:rPr lang="en-US" dirty="0"/>
              <a:t> to </a:t>
            </a:r>
            <a:r>
              <a:rPr lang="en-US" dirty="0" err="1"/>
              <a:t>match_finder</a:t>
            </a:r>
            <a:r>
              <a:rPr lang="en-US" dirty="0"/>
              <a:t>                            when </a:t>
            </a:r>
            <a:r>
              <a:rPr lang="en-US" dirty="0" err="1"/>
              <a:t>match_check</a:t>
            </a:r>
            <a:r>
              <a:rPr lang="en-US" dirty="0"/>
              <a:t>=1.</a:t>
            </a:r>
          </a:p>
          <a:p>
            <a:pPr marL="285750" indent="-285750">
              <a:buFont typeface="Arial" panose="020B0604020202020204" pitchFamily="34" charset="0"/>
              <a:buChar char="•"/>
            </a:pPr>
            <a:r>
              <a:rPr lang="en-US" b="1" dirty="0" err="1"/>
              <a:t>match_finder</a:t>
            </a:r>
            <a:r>
              <a:rPr lang="en-US" b="1" dirty="0"/>
              <a:t> </a:t>
            </a:r>
            <a:r>
              <a:rPr lang="en-US" dirty="0"/>
              <a:t>outputs </a:t>
            </a:r>
            <a:r>
              <a:rPr lang="en-US" dirty="0" err="1"/>
              <a:t>match_offset</a:t>
            </a:r>
            <a:r>
              <a:rPr lang="en-US" dirty="0"/>
              <a:t>, </a:t>
            </a:r>
            <a:r>
              <a:rPr lang="en-US" dirty="0" err="1"/>
              <a:t>match_length</a:t>
            </a:r>
            <a:r>
              <a:rPr lang="en-US" dirty="0"/>
              <a:t>, and </a:t>
            </a:r>
            <a:r>
              <a:rPr lang="en-US" dirty="0" err="1"/>
              <a:t>next_char</a:t>
            </a:r>
            <a:r>
              <a:rPr lang="en-US" dirty="0"/>
              <a:t> to encoder.</a:t>
            </a:r>
          </a:p>
          <a:p>
            <a:pPr marL="285750" indent="-285750">
              <a:buFont typeface="Arial" panose="020B0604020202020204" pitchFamily="34" charset="0"/>
              <a:buChar char="•"/>
            </a:pPr>
            <a:r>
              <a:rPr lang="en-US" b="1" dirty="0"/>
              <a:t>encoder</a:t>
            </a:r>
            <a:r>
              <a:rPr lang="en-US" dirty="0"/>
              <a:t> generates </a:t>
            </a:r>
            <a:r>
              <a:rPr lang="en-US" dirty="0" err="1"/>
              <a:t>encoded_data</a:t>
            </a:r>
            <a:r>
              <a:rPr lang="en-US" dirty="0"/>
              <a:t> when encode=1.</a:t>
            </a:r>
          </a:p>
          <a:p>
            <a:pPr marL="285750" indent="-285750">
              <a:buFont typeface="Arial" panose="020B0604020202020204" pitchFamily="34" charset="0"/>
              <a:buChar char="•"/>
            </a:pPr>
            <a:r>
              <a:rPr lang="en-US" b="1" dirty="0"/>
              <a:t>counter</a:t>
            </a:r>
            <a:r>
              <a:rPr lang="en-US" dirty="0"/>
              <a:t> loads </a:t>
            </a:r>
            <a:r>
              <a:rPr lang="en-US" dirty="0" err="1"/>
              <a:t>match_length</a:t>
            </a:r>
            <a:r>
              <a:rPr lang="en-US" dirty="0"/>
              <a:t> on </a:t>
            </a:r>
            <a:r>
              <a:rPr lang="en-US" dirty="0" err="1"/>
              <a:t>ld_length</a:t>
            </a:r>
            <a:r>
              <a:rPr lang="en-US" dirty="0"/>
              <a:t>=1 and decrements with dec, </a:t>
            </a:r>
            <a:r>
              <a:rPr lang="en-US" b="1" dirty="0" err="1"/>
              <a:t>check_eql</a:t>
            </a:r>
            <a:r>
              <a:rPr lang="en-US" b="1" dirty="0"/>
              <a:t> </a:t>
            </a:r>
            <a:r>
              <a:rPr lang="en-US" dirty="0"/>
              <a:t>converts it to </a:t>
            </a:r>
            <a:r>
              <a:rPr lang="en-US" dirty="0" err="1"/>
              <a:t>eqz</a:t>
            </a:r>
            <a:r>
              <a:rPr lang="en-US" dirty="0"/>
              <a:t>.</a:t>
            </a:r>
          </a:p>
          <a:p>
            <a:pPr marL="285750" indent="-285750">
              <a:buFont typeface="Arial" panose="020B0604020202020204" pitchFamily="34" charset="0"/>
              <a:buChar char="•"/>
            </a:pPr>
            <a:r>
              <a:rPr lang="en-US" b="1" dirty="0" err="1"/>
              <a:t>check_end</a:t>
            </a:r>
            <a:r>
              <a:rPr lang="en-US" b="1" dirty="0"/>
              <a:t> </a:t>
            </a:r>
            <a:r>
              <a:rPr lang="en-US" dirty="0"/>
              <a:t>asserts </a:t>
            </a:r>
            <a:r>
              <a:rPr lang="en-US" dirty="0" err="1"/>
              <a:t>end_of_data</a:t>
            </a:r>
            <a:r>
              <a:rPr lang="en-US" dirty="0"/>
              <a:t> when no more valid data is available in lookahead/input.</a:t>
            </a:r>
          </a:p>
          <a:p>
            <a:pPr marL="285750" indent="-285750">
              <a:buFont typeface="Arial" panose="020B0604020202020204" pitchFamily="34" charset="0"/>
              <a:buChar char="•"/>
            </a:pPr>
            <a:endParaRPr lang="en-US" dirty="0"/>
          </a:p>
          <a:p>
            <a:endParaRPr lang="en-US" dirty="0"/>
          </a:p>
          <a:p>
            <a:pPr algn="l">
              <a:buNone/>
            </a:pPr>
            <a:endParaRPr lang="en-IN" b="0" i="0" dirty="0">
              <a:effectLst/>
              <a:latin typeface="fkGrotesk"/>
            </a:endParaRPr>
          </a:p>
        </p:txBody>
      </p:sp>
      <p:sp>
        <p:nvSpPr>
          <p:cNvPr id="11" name="TextBox 10">
            <a:extLst>
              <a:ext uri="{FF2B5EF4-FFF2-40B4-BE49-F238E27FC236}">
                <a16:creationId xmlns:a16="http://schemas.microsoft.com/office/drawing/2014/main" id="{DC2C2F79-87DC-CC1C-C972-85BAA73F53A5}"/>
              </a:ext>
            </a:extLst>
          </p:cNvPr>
          <p:cNvSpPr txBox="1"/>
          <p:nvPr/>
        </p:nvSpPr>
        <p:spPr>
          <a:xfrm>
            <a:off x="654976" y="2353052"/>
            <a:ext cx="10626049" cy="379874"/>
          </a:xfrm>
          <a:prstGeom prst="rect">
            <a:avLst/>
          </a:prstGeom>
          <a:solidFill>
            <a:srgbClr val="002060"/>
          </a:solidFill>
        </p:spPr>
        <p:txBody>
          <a:bodyPr wrap="square">
            <a:spAutoFit/>
          </a:bodyPr>
          <a:lstStyle/>
          <a:p>
            <a:r>
              <a:rPr lang="en-US" b="1" i="0" dirty="0">
                <a:solidFill>
                  <a:srgbClr val="38BDF8"/>
                </a:solidFill>
                <a:effectLst/>
                <a:latin typeface="Arial" panose="020B0604020202020204" pitchFamily="34" charset="0"/>
              </a:rPr>
              <a:t>Module 8: </a:t>
            </a:r>
            <a:r>
              <a:rPr lang="en-IN" b="1" dirty="0">
                <a:solidFill>
                  <a:srgbClr val="00B0F0"/>
                </a:solidFill>
                <a:latin typeface="fkGrotesk"/>
              </a:rPr>
              <a:t>Datapath Compressor</a:t>
            </a:r>
            <a:endParaRPr lang="en-US" b="1" i="0" dirty="0">
              <a:solidFill>
                <a:srgbClr val="00B0F0"/>
              </a:solidFill>
              <a:effectLst/>
              <a:latin typeface="Arial" panose="020B0604020202020204" pitchFamily="34" charset="0"/>
            </a:endParaRPr>
          </a:p>
        </p:txBody>
      </p:sp>
    </p:spTree>
    <p:extLst>
      <p:ext uri="{BB962C8B-B14F-4D97-AF65-F5344CB8AC3E}">
        <p14:creationId xmlns:p14="http://schemas.microsoft.com/office/powerpoint/2010/main" val="2211444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1820A9-7640-60FF-4530-671E2C5AA1F8}"/>
              </a:ext>
            </a:extLst>
          </p:cNvPr>
          <p:cNvPicPr>
            <a:picLocks noChangeAspect="1"/>
          </p:cNvPicPr>
          <p:nvPr/>
        </p:nvPicPr>
        <p:blipFill>
          <a:blip r:embed="rId2"/>
          <a:stretch>
            <a:fillRect/>
          </a:stretch>
        </p:blipFill>
        <p:spPr>
          <a:xfrm>
            <a:off x="400691" y="411408"/>
            <a:ext cx="11072117" cy="6108210"/>
          </a:xfrm>
          <a:prstGeom prst="rect">
            <a:avLst/>
          </a:prstGeom>
        </p:spPr>
      </p:pic>
    </p:spTree>
    <p:extLst>
      <p:ext uri="{BB962C8B-B14F-4D97-AF65-F5344CB8AC3E}">
        <p14:creationId xmlns:p14="http://schemas.microsoft.com/office/powerpoint/2010/main" val="1804403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BE995B-0EB2-C686-7F9D-BA14A54AB682}"/>
              </a:ext>
            </a:extLst>
          </p:cNvPr>
          <p:cNvPicPr>
            <a:picLocks noChangeAspect="1"/>
          </p:cNvPicPr>
          <p:nvPr/>
        </p:nvPicPr>
        <p:blipFill>
          <a:blip r:embed="rId2"/>
          <a:stretch>
            <a:fillRect/>
          </a:stretch>
        </p:blipFill>
        <p:spPr>
          <a:xfrm>
            <a:off x="0" y="1591821"/>
            <a:ext cx="12192000" cy="3551068"/>
          </a:xfrm>
          <a:prstGeom prst="rect">
            <a:avLst/>
          </a:prstGeom>
        </p:spPr>
      </p:pic>
    </p:spTree>
    <p:extLst>
      <p:ext uri="{BB962C8B-B14F-4D97-AF65-F5344CB8AC3E}">
        <p14:creationId xmlns:p14="http://schemas.microsoft.com/office/powerpoint/2010/main" val="1786373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FB9E2D73-72CD-4755-5927-0610D88FBF28}"/>
              </a:ext>
            </a:extLst>
          </p:cNvPr>
          <p:cNvGraphicFramePr>
            <a:graphicFrameLocks noGrp="1"/>
          </p:cNvGraphicFramePr>
          <p:nvPr>
            <p:extLst>
              <p:ext uri="{D42A27DB-BD31-4B8C-83A1-F6EECF244321}">
                <p14:modId xmlns:p14="http://schemas.microsoft.com/office/powerpoint/2010/main" val="642025401"/>
              </p:ext>
            </p:extLst>
          </p:nvPr>
        </p:nvGraphicFramePr>
        <p:xfrm>
          <a:off x="532543" y="2069233"/>
          <a:ext cx="11126913" cy="3221957"/>
        </p:xfrm>
        <a:graphic>
          <a:graphicData uri="http://schemas.openxmlformats.org/drawingml/2006/table">
            <a:tbl>
              <a:tblPr firstRow="1" firstCol="1" bandRow="1">
                <a:tableStyleId>{5C22544A-7EE6-4342-B048-85BDC9FD1C3A}</a:tableStyleId>
              </a:tblPr>
              <a:tblGrid>
                <a:gridCol w="775680">
                  <a:extLst>
                    <a:ext uri="{9D8B030D-6E8A-4147-A177-3AD203B41FA5}">
                      <a16:colId xmlns:a16="http://schemas.microsoft.com/office/drawing/2014/main" val="410308416"/>
                    </a:ext>
                  </a:extLst>
                </a:gridCol>
                <a:gridCol w="3796320">
                  <a:extLst>
                    <a:ext uri="{9D8B030D-6E8A-4147-A177-3AD203B41FA5}">
                      <a16:colId xmlns:a16="http://schemas.microsoft.com/office/drawing/2014/main" val="2870380180"/>
                    </a:ext>
                  </a:extLst>
                </a:gridCol>
                <a:gridCol w="719191">
                  <a:extLst>
                    <a:ext uri="{9D8B030D-6E8A-4147-A177-3AD203B41FA5}">
                      <a16:colId xmlns:a16="http://schemas.microsoft.com/office/drawing/2014/main" val="593918089"/>
                    </a:ext>
                  </a:extLst>
                </a:gridCol>
                <a:gridCol w="1176161">
                  <a:extLst>
                    <a:ext uri="{9D8B030D-6E8A-4147-A177-3AD203B41FA5}">
                      <a16:colId xmlns:a16="http://schemas.microsoft.com/office/drawing/2014/main" val="3740875718"/>
                    </a:ext>
                  </a:extLst>
                </a:gridCol>
                <a:gridCol w="776594">
                  <a:extLst>
                    <a:ext uri="{9D8B030D-6E8A-4147-A177-3AD203B41FA5}">
                      <a16:colId xmlns:a16="http://schemas.microsoft.com/office/drawing/2014/main" val="1997425278"/>
                    </a:ext>
                  </a:extLst>
                </a:gridCol>
                <a:gridCol w="1295844">
                  <a:extLst>
                    <a:ext uri="{9D8B030D-6E8A-4147-A177-3AD203B41FA5}">
                      <a16:colId xmlns:a16="http://schemas.microsoft.com/office/drawing/2014/main" val="969399843"/>
                    </a:ext>
                  </a:extLst>
                </a:gridCol>
                <a:gridCol w="1294017">
                  <a:extLst>
                    <a:ext uri="{9D8B030D-6E8A-4147-A177-3AD203B41FA5}">
                      <a16:colId xmlns:a16="http://schemas.microsoft.com/office/drawing/2014/main" val="427265261"/>
                    </a:ext>
                  </a:extLst>
                </a:gridCol>
                <a:gridCol w="1293106">
                  <a:extLst>
                    <a:ext uri="{9D8B030D-6E8A-4147-A177-3AD203B41FA5}">
                      <a16:colId xmlns:a16="http://schemas.microsoft.com/office/drawing/2014/main" val="2216040685"/>
                    </a:ext>
                  </a:extLst>
                </a:gridCol>
              </a:tblGrid>
              <a:tr h="728816">
                <a:tc>
                  <a:txBody>
                    <a:bodyPr/>
                    <a:lstStyle/>
                    <a:p>
                      <a:pPr algn="ctr">
                        <a:lnSpc>
                          <a:spcPct val="107000"/>
                        </a:lnSpc>
                        <a:spcBef>
                          <a:spcPts val="600"/>
                        </a:spcBef>
                        <a:spcAft>
                          <a:spcPts val="600"/>
                        </a:spcAft>
                        <a:buNone/>
                      </a:pPr>
                      <a:r>
                        <a:rPr lang="en-IN" sz="1600" kern="100" dirty="0" err="1">
                          <a:effectLst/>
                        </a:rPr>
                        <a:t>S.No</a:t>
                      </a:r>
                      <a:r>
                        <a:rPr lang="en-IN" sz="1600" kern="100" dirty="0">
                          <a:effectLst/>
                        </a:rPr>
                        <a:t>.</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ctr">
                        <a:lnSpc>
                          <a:spcPct val="107000"/>
                        </a:lnSpc>
                        <a:spcBef>
                          <a:spcPts val="600"/>
                        </a:spcBef>
                        <a:spcAft>
                          <a:spcPts val="600"/>
                        </a:spcAft>
                        <a:buNone/>
                      </a:pPr>
                      <a:r>
                        <a:rPr lang="en-IN" sz="1600" kern="100">
                          <a:effectLst/>
                        </a:rPr>
                        <a:t>Test Data</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ctr">
                        <a:lnSpc>
                          <a:spcPct val="107000"/>
                        </a:lnSpc>
                        <a:spcBef>
                          <a:spcPts val="600"/>
                        </a:spcBef>
                        <a:spcAft>
                          <a:spcPts val="600"/>
                        </a:spcAft>
                        <a:buNone/>
                      </a:pPr>
                      <a:r>
                        <a:rPr lang="en-IN" sz="1600" kern="100">
                          <a:effectLst/>
                        </a:rPr>
                        <a:t>Input Bits</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ctr">
                        <a:lnSpc>
                          <a:spcPct val="107000"/>
                        </a:lnSpc>
                        <a:spcBef>
                          <a:spcPts val="600"/>
                        </a:spcBef>
                        <a:spcAft>
                          <a:spcPts val="600"/>
                        </a:spcAft>
                        <a:buNone/>
                      </a:pPr>
                      <a:r>
                        <a:rPr lang="en-IN" sz="1600" kern="100">
                          <a:effectLst/>
                        </a:rPr>
                        <a:t>Compressed Bits</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ctr">
                        <a:lnSpc>
                          <a:spcPct val="107000"/>
                        </a:lnSpc>
                        <a:spcBef>
                          <a:spcPts val="600"/>
                        </a:spcBef>
                        <a:spcAft>
                          <a:spcPts val="600"/>
                        </a:spcAft>
                        <a:buNone/>
                      </a:pPr>
                      <a:r>
                        <a:rPr lang="en-IN" sz="1600" kern="100">
                          <a:effectLst/>
                        </a:rPr>
                        <a:t>Cycles</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ctr">
                        <a:lnSpc>
                          <a:spcPct val="107000"/>
                        </a:lnSpc>
                        <a:spcBef>
                          <a:spcPts val="600"/>
                        </a:spcBef>
                        <a:spcAft>
                          <a:spcPts val="600"/>
                        </a:spcAft>
                        <a:buNone/>
                      </a:pPr>
                      <a:r>
                        <a:rPr lang="en-IN" sz="1600" kern="100">
                          <a:effectLst/>
                        </a:rPr>
                        <a:t>Compression Ratio (CR)</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ctr">
                        <a:lnSpc>
                          <a:spcPct val="107000"/>
                        </a:lnSpc>
                        <a:spcBef>
                          <a:spcPts val="600"/>
                        </a:spcBef>
                        <a:spcAft>
                          <a:spcPts val="600"/>
                        </a:spcAft>
                        <a:buNone/>
                      </a:pPr>
                      <a:r>
                        <a:rPr lang="en-IN" sz="1600" kern="100">
                          <a:effectLst/>
                        </a:rPr>
                        <a:t>Compression Gain (%)</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ctr">
                        <a:lnSpc>
                          <a:spcPct val="107000"/>
                        </a:lnSpc>
                        <a:spcBef>
                          <a:spcPts val="600"/>
                        </a:spcBef>
                        <a:spcAft>
                          <a:spcPts val="600"/>
                        </a:spcAft>
                        <a:buNone/>
                      </a:pPr>
                      <a:r>
                        <a:rPr lang="en-IN" sz="1600" kern="100">
                          <a:effectLst/>
                        </a:rPr>
                        <a:t>Throughput (Bytes/cycle)</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extLst>
                  <a:ext uri="{0D108BD9-81ED-4DB2-BD59-A6C34878D82A}">
                    <a16:rowId xmlns:a16="http://schemas.microsoft.com/office/drawing/2014/main" val="3104093133"/>
                  </a:ext>
                </a:extLst>
              </a:tr>
              <a:tr h="356163">
                <a:tc>
                  <a:txBody>
                    <a:bodyPr/>
                    <a:lstStyle/>
                    <a:p>
                      <a:pPr algn="ctr">
                        <a:lnSpc>
                          <a:spcPct val="107000"/>
                        </a:lnSpc>
                        <a:spcBef>
                          <a:spcPts val="600"/>
                        </a:spcBef>
                        <a:spcAft>
                          <a:spcPts val="600"/>
                        </a:spcAft>
                        <a:buNone/>
                      </a:pPr>
                      <a:r>
                        <a:rPr lang="en-IN" sz="1600" kern="100">
                          <a:effectLst/>
                        </a:rPr>
                        <a:t>1</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IN" sz="1600" dirty="0"/>
                        <a:t>High compression (BEST CASE)</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240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84</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50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dirty="0">
                          <a:effectLst/>
                        </a:rPr>
                        <a:t>2.857</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65.00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4.80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3101055075"/>
                  </a:ext>
                </a:extLst>
              </a:tr>
              <a:tr h="356163">
                <a:tc>
                  <a:txBody>
                    <a:bodyPr/>
                    <a:lstStyle/>
                    <a:p>
                      <a:pPr algn="ctr">
                        <a:lnSpc>
                          <a:spcPct val="107000"/>
                        </a:lnSpc>
                        <a:spcBef>
                          <a:spcPts val="600"/>
                        </a:spcBef>
                        <a:spcAft>
                          <a:spcPts val="600"/>
                        </a:spcAft>
                        <a:buNone/>
                      </a:pPr>
                      <a:r>
                        <a:rPr lang="en-IN" sz="1600" kern="100">
                          <a:effectLst/>
                        </a:rPr>
                        <a:t>2</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IN" sz="1600" dirty="0"/>
                        <a:t>Overlapping pattern</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224</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84</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48</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2.667</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62.50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4.67</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1024439333"/>
                  </a:ext>
                </a:extLst>
              </a:tr>
              <a:tr h="356163">
                <a:tc>
                  <a:txBody>
                    <a:bodyPr/>
                    <a:lstStyle/>
                    <a:p>
                      <a:pPr algn="ctr">
                        <a:lnSpc>
                          <a:spcPct val="107000"/>
                        </a:lnSpc>
                        <a:spcBef>
                          <a:spcPts val="600"/>
                        </a:spcBef>
                        <a:spcAft>
                          <a:spcPts val="600"/>
                        </a:spcAft>
                        <a:buNone/>
                      </a:pPr>
                      <a:r>
                        <a:rPr lang="en-IN" sz="1600" kern="100">
                          <a:effectLst/>
                        </a:rPr>
                        <a:t>3</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IN" sz="1600" kern="100" dirty="0">
                          <a:effectLst/>
                        </a:rPr>
                        <a:t>HELLOHELLOHELLOHELLOHELLO</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200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98</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48</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2.041</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51.00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4.17</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3126212447"/>
                  </a:ext>
                </a:extLst>
              </a:tr>
              <a:tr h="356163">
                <a:tc>
                  <a:txBody>
                    <a:bodyPr/>
                    <a:lstStyle/>
                    <a:p>
                      <a:pPr algn="ctr">
                        <a:lnSpc>
                          <a:spcPct val="107000"/>
                        </a:lnSpc>
                        <a:spcBef>
                          <a:spcPts val="600"/>
                        </a:spcBef>
                        <a:spcAft>
                          <a:spcPts val="600"/>
                        </a:spcAft>
                        <a:buNone/>
                      </a:pPr>
                      <a:r>
                        <a:rPr lang="en-IN" sz="1600" kern="100">
                          <a:effectLst/>
                        </a:rPr>
                        <a:t>4</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IN" sz="1600" dirty="0"/>
                        <a:t>Realistic text-like data</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216</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112</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54</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dirty="0">
                          <a:effectLst/>
                        </a:rPr>
                        <a:t>1.929</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48.15</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4.00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4212124790"/>
                  </a:ext>
                </a:extLst>
              </a:tr>
              <a:tr h="356163">
                <a:tc>
                  <a:txBody>
                    <a:bodyPr/>
                    <a:lstStyle/>
                    <a:p>
                      <a:pPr algn="ctr">
                        <a:lnSpc>
                          <a:spcPct val="107000"/>
                        </a:lnSpc>
                        <a:spcBef>
                          <a:spcPts val="600"/>
                        </a:spcBef>
                        <a:spcAft>
                          <a:spcPts val="600"/>
                        </a:spcAft>
                        <a:buNone/>
                      </a:pPr>
                      <a:r>
                        <a:rPr lang="en-IN" sz="1600" kern="100">
                          <a:effectLst/>
                        </a:rPr>
                        <a:t>5</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IN" sz="1600" dirty="0"/>
                        <a:t>Medium compression</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240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196</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63</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1.224</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18.33</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3.81</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726632135"/>
                  </a:ext>
                </a:extLst>
              </a:tr>
              <a:tr h="356163">
                <a:tc>
                  <a:txBody>
                    <a:bodyPr/>
                    <a:lstStyle/>
                    <a:p>
                      <a:pPr algn="ctr">
                        <a:lnSpc>
                          <a:spcPct val="107000"/>
                        </a:lnSpc>
                        <a:spcBef>
                          <a:spcPts val="600"/>
                        </a:spcBef>
                        <a:spcAft>
                          <a:spcPts val="600"/>
                        </a:spcAft>
                        <a:buNone/>
                      </a:pPr>
                      <a:r>
                        <a:rPr lang="en-IN" sz="1600" kern="100">
                          <a:effectLst/>
                        </a:rPr>
                        <a:t>6</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IN" sz="1600" dirty="0"/>
                        <a:t>Low compression</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192</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168</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59</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1.143</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12.50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3.25</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3654982262"/>
                  </a:ext>
                </a:extLst>
              </a:tr>
              <a:tr h="356163">
                <a:tc>
                  <a:txBody>
                    <a:bodyPr/>
                    <a:lstStyle/>
                    <a:p>
                      <a:pPr algn="ctr">
                        <a:lnSpc>
                          <a:spcPct val="107000"/>
                        </a:lnSpc>
                        <a:spcBef>
                          <a:spcPts val="600"/>
                        </a:spcBef>
                        <a:spcAft>
                          <a:spcPts val="600"/>
                        </a:spcAft>
                        <a:buNone/>
                      </a:pPr>
                      <a:r>
                        <a:rPr lang="en-IN" sz="1600" kern="100">
                          <a:effectLst/>
                        </a:rPr>
                        <a:t>7</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07000"/>
                        </a:lnSpc>
                        <a:spcBef>
                          <a:spcPts val="600"/>
                        </a:spcBef>
                        <a:spcAft>
                          <a:spcPts val="600"/>
                        </a:spcAft>
                        <a:buNone/>
                      </a:pPr>
                      <a:r>
                        <a:rPr lang="en-IN" sz="1600" dirty="0"/>
                        <a:t>No compression (worst case)</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240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336</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82</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0.714</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a:effectLst/>
                        </a:rPr>
                        <a:t>−40.00</a:t>
                      </a:r>
                      <a:endParaRPr lang="en-IN" sz="1600"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tc>
                  <a:txBody>
                    <a:bodyPr/>
                    <a:lstStyle/>
                    <a:p>
                      <a:pPr algn="ctr">
                        <a:lnSpc>
                          <a:spcPct val="107000"/>
                        </a:lnSpc>
                        <a:spcBef>
                          <a:spcPts val="600"/>
                        </a:spcBef>
                        <a:spcAft>
                          <a:spcPts val="600"/>
                        </a:spcAft>
                        <a:buNone/>
                      </a:pPr>
                      <a:r>
                        <a:rPr lang="en-IN" sz="1600" kern="100" dirty="0">
                          <a:effectLst/>
                        </a:rPr>
                        <a:t>2.93</a:t>
                      </a:r>
                      <a:endParaRPr lang="en-IN" sz="1600"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3036253174"/>
                  </a:ext>
                </a:extLst>
              </a:tr>
            </a:tbl>
          </a:graphicData>
        </a:graphic>
      </p:graphicFrame>
      <p:sp>
        <p:nvSpPr>
          <p:cNvPr id="11" name="Title 1">
            <a:extLst>
              <a:ext uri="{FF2B5EF4-FFF2-40B4-BE49-F238E27FC236}">
                <a16:creationId xmlns:a16="http://schemas.microsoft.com/office/drawing/2014/main" id="{A8EAA201-49C5-7805-73B6-3108BF145074}"/>
              </a:ext>
            </a:extLst>
          </p:cNvPr>
          <p:cNvSpPr txBox="1">
            <a:spLocks/>
          </p:cNvSpPr>
          <p:nvPr/>
        </p:nvSpPr>
        <p:spPr>
          <a:xfrm>
            <a:off x="589192" y="267130"/>
            <a:ext cx="10515600" cy="76028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Consolidated Results Table</a:t>
            </a:r>
          </a:p>
          <a:p>
            <a:endParaRPr lang="en-US" sz="32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74F37FC0-D89E-1252-6F64-FBB09710CEED}"/>
              </a:ext>
            </a:extLst>
          </p:cNvPr>
          <p:cNvSpPr/>
          <p:nvPr/>
        </p:nvSpPr>
        <p:spPr>
          <a:xfrm>
            <a:off x="71920" y="953024"/>
            <a:ext cx="12080789" cy="4571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Tree>
    <p:extLst>
      <p:ext uri="{BB962C8B-B14F-4D97-AF65-F5344CB8AC3E}">
        <p14:creationId xmlns:p14="http://schemas.microsoft.com/office/powerpoint/2010/main" val="2425751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46226F2-1547-A635-8AAD-C62C7545A4F6}"/>
              </a:ext>
            </a:extLst>
          </p:cNvPr>
          <p:cNvGraphicFramePr>
            <a:graphicFrameLocks noGrp="1"/>
          </p:cNvGraphicFramePr>
          <p:nvPr>
            <p:extLst>
              <p:ext uri="{D42A27DB-BD31-4B8C-83A1-F6EECF244321}">
                <p14:modId xmlns:p14="http://schemas.microsoft.com/office/powerpoint/2010/main" val="2417023722"/>
              </p:ext>
            </p:extLst>
          </p:nvPr>
        </p:nvGraphicFramePr>
        <p:xfrm>
          <a:off x="7911672" y="3732412"/>
          <a:ext cx="3533739" cy="2118465"/>
        </p:xfrm>
        <a:graphic>
          <a:graphicData uri="http://schemas.openxmlformats.org/drawingml/2006/table">
            <a:tbl>
              <a:tblPr firstRow="1" firstCol="1" bandRow="1">
                <a:tableStyleId>{BC89EF96-8CEA-46FF-86C4-4CE0E7609802}</a:tableStyleId>
              </a:tblPr>
              <a:tblGrid>
                <a:gridCol w="682966">
                  <a:extLst>
                    <a:ext uri="{9D8B030D-6E8A-4147-A177-3AD203B41FA5}">
                      <a16:colId xmlns:a16="http://schemas.microsoft.com/office/drawing/2014/main" val="3949017411"/>
                    </a:ext>
                  </a:extLst>
                </a:gridCol>
                <a:gridCol w="2850773">
                  <a:extLst>
                    <a:ext uri="{9D8B030D-6E8A-4147-A177-3AD203B41FA5}">
                      <a16:colId xmlns:a16="http://schemas.microsoft.com/office/drawing/2014/main" val="1111786940"/>
                    </a:ext>
                  </a:extLst>
                </a:gridCol>
              </a:tblGrid>
              <a:tr h="0">
                <a:tc>
                  <a:txBody>
                    <a:bodyPr/>
                    <a:lstStyle/>
                    <a:p>
                      <a:pPr algn="just">
                        <a:lnSpc>
                          <a:spcPct val="150000"/>
                        </a:lnSpc>
                        <a:spcBef>
                          <a:spcPts val="600"/>
                        </a:spcBef>
                        <a:spcAft>
                          <a:spcPts val="600"/>
                        </a:spcAft>
                        <a:buNone/>
                      </a:pPr>
                      <a:r>
                        <a:rPr lang="en-IN" sz="1100" b="1" kern="100" dirty="0">
                          <a:effectLst/>
                        </a:rPr>
                        <a:t>Input 1</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err="1">
                          <a:effectLst/>
                        </a:rPr>
                        <a:t>abracadabrarrabcdefgabracadabr</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3056937591"/>
                  </a:ext>
                </a:extLst>
              </a:tr>
              <a:tr h="315496">
                <a:tc>
                  <a:txBody>
                    <a:bodyPr/>
                    <a:lstStyle/>
                    <a:p>
                      <a:pPr algn="just">
                        <a:lnSpc>
                          <a:spcPct val="150000"/>
                        </a:lnSpc>
                        <a:spcBef>
                          <a:spcPts val="600"/>
                        </a:spcBef>
                        <a:spcAft>
                          <a:spcPts val="600"/>
                        </a:spcAft>
                        <a:buNone/>
                      </a:pPr>
                      <a:r>
                        <a:rPr lang="en-IN" sz="1100" b="1" kern="100" dirty="0">
                          <a:effectLst/>
                        </a:rPr>
                        <a:t>Input 2</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ABCDEFGHIJKLMNOPQRSTUVWXYZ1234</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700617431"/>
                  </a:ext>
                </a:extLst>
              </a:tr>
              <a:tr h="315496">
                <a:tc>
                  <a:txBody>
                    <a:bodyPr/>
                    <a:lstStyle/>
                    <a:p>
                      <a:pPr algn="just">
                        <a:lnSpc>
                          <a:spcPct val="150000"/>
                        </a:lnSpc>
                        <a:spcBef>
                          <a:spcPts val="600"/>
                        </a:spcBef>
                        <a:spcAft>
                          <a:spcPts val="600"/>
                        </a:spcAft>
                        <a:buNone/>
                      </a:pPr>
                      <a:r>
                        <a:rPr lang="en-IN" sz="1100" b="1" kern="100" dirty="0">
                          <a:effectLst/>
                        </a:rPr>
                        <a:t>Input 3</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ABCABCABCXYZXYZXYZABCABC</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670824161"/>
                  </a:ext>
                </a:extLst>
              </a:tr>
              <a:tr h="315496">
                <a:tc>
                  <a:txBody>
                    <a:bodyPr/>
                    <a:lstStyle/>
                    <a:p>
                      <a:pPr algn="just">
                        <a:lnSpc>
                          <a:spcPct val="150000"/>
                        </a:lnSpc>
                        <a:spcBef>
                          <a:spcPts val="600"/>
                        </a:spcBef>
                        <a:spcAft>
                          <a:spcPts val="600"/>
                        </a:spcAft>
                        <a:buNone/>
                      </a:pPr>
                      <a:r>
                        <a:rPr lang="en-IN" sz="1100" b="1" kern="100" dirty="0">
                          <a:effectLst/>
                        </a:rPr>
                        <a:t>Input 4</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a:effectLst/>
                        </a:rPr>
                        <a:t>HELLOHELLOHELLOHELLOHELLO</a:t>
                      </a:r>
                      <a:endParaRPr lang="en-IN" sz="1100" b="1"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4057599815"/>
                  </a:ext>
                </a:extLst>
              </a:tr>
              <a:tr h="315496">
                <a:tc>
                  <a:txBody>
                    <a:bodyPr/>
                    <a:lstStyle/>
                    <a:p>
                      <a:pPr algn="just">
                        <a:lnSpc>
                          <a:spcPct val="150000"/>
                        </a:lnSpc>
                        <a:spcBef>
                          <a:spcPts val="600"/>
                        </a:spcBef>
                        <a:spcAft>
                          <a:spcPts val="600"/>
                        </a:spcAft>
                        <a:buNone/>
                      </a:pPr>
                      <a:r>
                        <a:rPr lang="en-IN" sz="1100" b="1" kern="100" dirty="0">
                          <a:effectLst/>
                        </a:rPr>
                        <a:t>Input 5</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AAAAAAAAAAAAAAAAAAAAAAAAAAAAAA</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1550611223"/>
                  </a:ext>
                </a:extLst>
              </a:tr>
              <a:tr h="315496">
                <a:tc>
                  <a:txBody>
                    <a:bodyPr/>
                    <a:lstStyle/>
                    <a:p>
                      <a:pPr algn="just">
                        <a:lnSpc>
                          <a:spcPct val="150000"/>
                        </a:lnSpc>
                        <a:spcBef>
                          <a:spcPts val="600"/>
                        </a:spcBef>
                        <a:spcAft>
                          <a:spcPts val="600"/>
                        </a:spcAft>
                        <a:buNone/>
                      </a:pPr>
                      <a:r>
                        <a:rPr lang="en-IN" sz="1100" b="1" kern="100" dirty="0">
                          <a:effectLst/>
                        </a:rPr>
                        <a:t>Input 6</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ABABABABABABABABABABABABABAB</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1913806490"/>
                  </a:ext>
                </a:extLst>
              </a:tr>
              <a:tr h="315496">
                <a:tc>
                  <a:txBody>
                    <a:bodyPr/>
                    <a:lstStyle/>
                    <a:p>
                      <a:pPr algn="just">
                        <a:lnSpc>
                          <a:spcPct val="150000"/>
                        </a:lnSpc>
                        <a:spcBef>
                          <a:spcPts val="600"/>
                        </a:spcBef>
                        <a:spcAft>
                          <a:spcPts val="600"/>
                        </a:spcAft>
                        <a:buNone/>
                      </a:pPr>
                      <a:r>
                        <a:rPr lang="en-IN" sz="1100" b="1" kern="100" dirty="0">
                          <a:effectLst/>
                        </a:rPr>
                        <a:t>Input7</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the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2720699152"/>
                  </a:ext>
                </a:extLst>
              </a:tr>
            </a:tbl>
          </a:graphicData>
        </a:graphic>
      </p:graphicFrame>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E7949036-F24B-3BEA-66C3-11130BEEA895}"/>
                  </a:ext>
                </a:extLst>
              </p:cNvPr>
              <p:cNvGraphicFramePr/>
              <p:nvPr>
                <p:extLst>
                  <p:ext uri="{D42A27DB-BD31-4B8C-83A1-F6EECF244321}">
                    <p14:modId xmlns:p14="http://schemas.microsoft.com/office/powerpoint/2010/main" val="435704372"/>
                  </p:ext>
                </p:extLst>
              </p:nvPr>
            </p:nvGraphicFramePr>
            <p:xfrm>
              <a:off x="889076" y="2350248"/>
              <a:ext cx="6282286" cy="3896439"/>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5" name="Chart 4">
                <a:extLst>
                  <a:ext uri="{FF2B5EF4-FFF2-40B4-BE49-F238E27FC236}">
                    <a16:creationId xmlns:a16="http://schemas.microsoft.com/office/drawing/2014/main" id="{E7949036-F24B-3BEA-66C3-11130BEEA895}"/>
                  </a:ext>
                </a:extLst>
              </p:cNvPr>
              <p:cNvPicPr>
                <a:picLocks noGrp="1" noRot="1" noChangeAspect="1" noMove="1" noResize="1" noEditPoints="1" noAdjustHandles="1" noChangeArrowheads="1" noChangeShapeType="1"/>
              </p:cNvPicPr>
              <p:nvPr/>
            </p:nvPicPr>
            <p:blipFill>
              <a:blip r:embed="rId3"/>
              <a:stretch>
                <a:fillRect/>
              </a:stretch>
            </p:blipFill>
            <p:spPr>
              <a:xfrm>
                <a:off x="889076" y="2350248"/>
                <a:ext cx="6282286" cy="3896439"/>
              </a:xfrm>
              <a:prstGeom prst="rect">
                <a:avLst/>
              </a:prstGeom>
            </p:spPr>
          </p:pic>
        </mc:Fallback>
      </mc:AlternateContent>
      <p:sp>
        <p:nvSpPr>
          <p:cNvPr id="9" name="TextBox 8">
            <a:extLst>
              <a:ext uri="{FF2B5EF4-FFF2-40B4-BE49-F238E27FC236}">
                <a16:creationId xmlns:a16="http://schemas.microsoft.com/office/drawing/2014/main" id="{5F0695FE-615D-A7CB-D9FB-62A18F247668}"/>
              </a:ext>
            </a:extLst>
          </p:cNvPr>
          <p:cNvSpPr txBox="1"/>
          <p:nvPr/>
        </p:nvSpPr>
        <p:spPr>
          <a:xfrm>
            <a:off x="8917969" y="3296236"/>
            <a:ext cx="1828800" cy="338554"/>
          </a:xfrm>
          <a:prstGeom prst="rect">
            <a:avLst/>
          </a:prstGeom>
          <a:noFill/>
        </p:spPr>
        <p:txBody>
          <a:bodyPr wrap="square" rtlCol="0">
            <a:spAutoFit/>
          </a:bodyPr>
          <a:lstStyle/>
          <a:p>
            <a:r>
              <a:rPr lang="en-IN" sz="1600" b="1" dirty="0"/>
              <a:t>Input Samples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0E5F5B-578D-9626-E8AF-F187899F9AA0}"/>
                  </a:ext>
                </a:extLst>
              </p:cNvPr>
              <p:cNvSpPr txBox="1"/>
              <p:nvPr/>
            </p:nvSpPr>
            <p:spPr>
              <a:xfrm>
                <a:off x="2903369" y="1280674"/>
                <a:ext cx="5912650" cy="5645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IN" b="1"/>
                        <m:t>Compression</m:t>
                      </m:r>
                      <m:r>
                        <m:rPr>
                          <m:nor/>
                        </m:rPr>
                        <a:rPr lang="en-IN" b="1"/>
                        <m:t> </m:t>
                      </m:r>
                      <m:r>
                        <m:rPr>
                          <m:nor/>
                        </m:rPr>
                        <a:rPr lang="en-IN" b="1"/>
                        <m:t>Ratio</m:t>
                      </m:r>
                      <m:r>
                        <m:rPr>
                          <m:nor/>
                        </m:rPr>
                        <a:rPr lang="en-IN" b="1"/>
                        <m:t> (</m:t>
                      </m:r>
                      <m:r>
                        <m:rPr>
                          <m:nor/>
                        </m:rPr>
                        <a:rPr lang="en-IN" b="1"/>
                        <m:t>CR</m:t>
                      </m:r>
                      <m:r>
                        <m:rPr>
                          <m:nor/>
                        </m:rPr>
                        <a:rPr lang="en-IN" b="1"/>
                        <m:t>)=</m:t>
                      </m:r>
                      <m:f>
                        <m:fPr>
                          <m:ctrlPr>
                            <a:rPr lang="en-IN" b="1" i="1" smtClean="0">
                              <a:latin typeface="Cambria Math" panose="02040503050406030204" pitchFamily="18" charset="0"/>
                            </a:rPr>
                          </m:ctrlPr>
                        </m:fPr>
                        <m:num>
                          <m:r>
                            <m:rPr>
                              <m:nor/>
                            </m:rPr>
                            <a:rPr lang="en-IN" b="1"/>
                            <m:t>Compressed</m:t>
                          </m:r>
                          <m:r>
                            <m:rPr>
                              <m:nor/>
                            </m:rPr>
                            <a:rPr lang="en-IN" b="1"/>
                            <m:t> </m:t>
                          </m:r>
                          <m:r>
                            <m:rPr>
                              <m:nor/>
                            </m:rPr>
                            <a:rPr lang="en-IN" b="1"/>
                            <m:t>file</m:t>
                          </m:r>
                          <m:r>
                            <m:rPr>
                              <m:nor/>
                            </m:rPr>
                            <a:rPr lang="en-IN" b="1"/>
                            <m:t> </m:t>
                          </m:r>
                          <m:r>
                            <m:rPr>
                              <m:nor/>
                            </m:rPr>
                            <a:rPr lang="en-IN" b="1"/>
                            <m:t>size</m:t>
                          </m:r>
                          <m:r>
                            <m:rPr>
                              <m:nor/>
                            </m:rPr>
                            <a:rPr lang="en-IN" b="1"/>
                            <m:t> (</m:t>
                          </m:r>
                          <m:r>
                            <m:rPr>
                              <m:nor/>
                            </m:rPr>
                            <a:rPr lang="en-IN" b="1"/>
                            <m:t>bytes</m:t>
                          </m:r>
                          <m:r>
                            <m:rPr>
                              <m:nor/>
                            </m:rPr>
                            <a:rPr lang="en-IN" b="1"/>
                            <m:t>)</m:t>
                          </m:r>
                        </m:num>
                        <m:den>
                          <m:r>
                            <m:rPr>
                              <m:nor/>
                            </m:rPr>
                            <a:rPr lang="en-IN" b="1"/>
                            <m:t>Original</m:t>
                          </m:r>
                          <m:r>
                            <m:rPr>
                              <m:nor/>
                            </m:rPr>
                            <a:rPr lang="en-IN" b="1"/>
                            <m:t> </m:t>
                          </m:r>
                          <m:r>
                            <m:rPr>
                              <m:nor/>
                            </m:rPr>
                            <a:rPr lang="en-IN" b="1"/>
                            <m:t>file</m:t>
                          </m:r>
                          <m:r>
                            <m:rPr>
                              <m:nor/>
                            </m:rPr>
                            <a:rPr lang="en-IN" b="1"/>
                            <m:t> </m:t>
                          </m:r>
                          <m:r>
                            <m:rPr>
                              <m:nor/>
                            </m:rPr>
                            <a:rPr lang="en-IN" b="1"/>
                            <m:t>size</m:t>
                          </m:r>
                          <m:r>
                            <m:rPr>
                              <m:nor/>
                            </m:rPr>
                            <a:rPr lang="en-IN" b="1"/>
                            <m:t> (</m:t>
                          </m:r>
                          <m:r>
                            <m:rPr>
                              <m:nor/>
                            </m:rPr>
                            <a:rPr lang="en-IN" b="1"/>
                            <m:t>bytes</m:t>
                          </m:r>
                          <m:r>
                            <m:rPr>
                              <m:nor/>
                            </m:rPr>
                            <a:rPr lang="en-IN" b="1"/>
                            <m:t>)</m:t>
                          </m:r>
                        </m:den>
                      </m:f>
                    </m:oMath>
                  </m:oMathPara>
                </a14:m>
                <a:endParaRPr lang="en-IN" b="1" dirty="0"/>
              </a:p>
            </p:txBody>
          </p:sp>
        </mc:Choice>
        <mc:Fallback xmlns="">
          <p:sp>
            <p:nvSpPr>
              <p:cNvPr id="10" name="TextBox 9">
                <a:extLst>
                  <a:ext uri="{FF2B5EF4-FFF2-40B4-BE49-F238E27FC236}">
                    <a16:creationId xmlns:a16="http://schemas.microsoft.com/office/drawing/2014/main" id="{750E5F5B-578D-9626-E8AF-F187899F9AA0}"/>
                  </a:ext>
                </a:extLst>
              </p:cNvPr>
              <p:cNvSpPr txBox="1">
                <a:spLocks noRot="1" noChangeAspect="1" noMove="1" noResize="1" noEditPoints="1" noAdjustHandles="1" noChangeArrowheads="1" noChangeShapeType="1" noTextEdit="1"/>
              </p:cNvSpPr>
              <p:nvPr/>
            </p:nvSpPr>
            <p:spPr>
              <a:xfrm>
                <a:off x="2903369" y="1280674"/>
                <a:ext cx="5912650" cy="564578"/>
              </a:xfrm>
              <a:prstGeom prst="rect">
                <a:avLst/>
              </a:prstGeom>
              <a:blipFill>
                <a:blip r:embed="rId4"/>
                <a:stretch>
                  <a:fillRect/>
                </a:stretch>
              </a:blipFill>
            </p:spPr>
            <p:txBody>
              <a:bodyPr/>
              <a:lstStyle/>
              <a:p>
                <a:r>
                  <a:rPr lang="en-IN">
                    <a:noFill/>
                  </a:rPr>
                  <a:t> </a:t>
                </a:r>
              </a:p>
            </p:txBody>
          </p:sp>
        </mc:Fallback>
      </mc:AlternateContent>
      <p:sp>
        <p:nvSpPr>
          <p:cNvPr id="11" name="Title 1">
            <a:extLst>
              <a:ext uri="{FF2B5EF4-FFF2-40B4-BE49-F238E27FC236}">
                <a16:creationId xmlns:a16="http://schemas.microsoft.com/office/drawing/2014/main" id="{771DD9B2-9548-0F39-77DC-ED00E5DC4BB8}"/>
              </a:ext>
            </a:extLst>
          </p:cNvPr>
          <p:cNvSpPr txBox="1">
            <a:spLocks/>
          </p:cNvSpPr>
          <p:nvPr/>
        </p:nvSpPr>
        <p:spPr>
          <a:xfrm>
            <a:off x="589192" y="267130"/>
            <a:ext cx="10515600" cy="76028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t>Data Compression Ratio and Throughput</a:t>
            </a:r>
          </a:p>
          <a:p>
            <a:endParaRPr lang="en-US" sz="28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0B1E4A6B-7E5E-17F1-7541-2DC06AFA0140}"/>
              </a:ext>
            </a:extLst>
          </p:cNvPr>
          <p:cNvSpPr/>
          <p:nvPr/>
        </p:nvSpPr>
        <p:spPr>
          <a:xfrm>
            <a:off x="55605" y="850283"/>
            <a:ext cx="12080789" cy="4571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Tree>
    <p:extLst>
      <p:ext uri="{BB962C8B-B14F-4D97-AF65-F5344CB8AC3E}">
        <p14:creationId xmlns:p14="http://schemas.microsoft.com/office/powerpoint/2010/main" val="3866437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B8486-EEDF-0BAA-B640-4259DFEFC78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7BE5DC1-60F4-534D-300B-C9701E6A8540}"/>
              </a:ext>
            </a:extLst>
          </p:cNvPr>
          <p:cNvGraphicFramePr>
            <a:graphicFrameLocks noGrp="1"/>
          </p:cNvGraphicFramePr>
          <p:nvPr/>
        </p:nvGraphicFramePr>
        <p:xfrm>
          <a:off x="7254126" y="989212"/>
          <a:ext cx="3533739" cy="2118465"/>
        </p:xfrm>
        <a:graphic>
          <a:graphicData uri="http://schemas.openxmlformats.org/drawingml/2006/table">
            <a:tbl>
              <a:tblPr firstRow="1" firstCol="1" bandRow="1">
                <a:tableStyleId>{BC89EF96-8CEA-46FF-86C4-4CE0E7609802}</a:tableStyleId>
              </a:tblPr>
              <a:tblGrid>
                <a:gridCol w="682966">
                  <a:extLst>
                    <a:ext uri="{9D8B030D-6E8A-4147-A177-3AD203B41FA5}">
                      <a16:colId xmlns:a16="http://schemas.microsoft.com/office/drawing/2014/main" val="3949017411"/>
                    </a:ext>
                  </a:extLst>
                </a:gridCol>
                <a:gridCol w="2850773">
                  <a:extLst>
                    <a:ext uri="{9D8B030D-6E8A-4147-A177-3AD203B41FA5}">
                      <a16:colId xmlns:a16="http://schemas.microsoft.com/office/drawing/2014/main" val="1111786940"/>
                    </a:ext>
                  </a:extLst>
                </a:gridCol>
              </a:tblGrid>
              <a:tr h="0">
                <a:tc>
                  <a:txBody>
                    <a:bodyPr/>
                    <a:lstStyle/>
                    <a:p>
                      <a:pPr algn="just">
                        <a:lnSpc>
                          <a:spcPct val="150000"/>
                        </a:lnSpc>
                        <a:spcBef>
                          <a:spcPts val="600"/>
                        </a:spcBef>
                        <a:spcAft>
                          <a:spcPts val="600"/>
                        </a:spcAft>
                        <a:buNone/>
                      </a:pPr>
                      <a:r>
                        <a:rPr lang="en-IN" sz="1100" b="1" kern="100" dirty="0">
                          <a:effectLst/>
                        </a:rPr>
                        <a:t>Input 1</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err="1">
                          <a:effectLst/>
                        </a:rPr>
                        <a:t>abracadabrarrabcdefgabracadabr</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3056937591"/>
                  </a:ext>
                </a:extLst>
              </a:tr>
              <a:tr h="315496">
                <a:tc>
                  <a:txBody>
                    <a:bodyPr/>
                    <a:lstStyle/>
                    <a:p>
                      <a:pPr algn="just">
                        <a:lnSpc>
                          <a:spcPct val="150000"/>
                        </a:lnSpc>
                        <a:spcBef>
                          <a:spcPts val="600"/>
                        </a:spcBef>
                        <a:spcAft>
                          <a:spcPts val="600"/>
                        </a:spcAft>
                        <a:buNone/>
                      </a:pPr>
                      <a:r>
                        <a:rPr lang="en-IN" sz="1100" b="1" kern="100" dirty="0">
                          <a:effectLst/>
                        </a:rPr>
                        <a:t>Input 2</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ABCDEFGHIJKLMNOPQRSTUVWXYZ1234</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700617431"/>
                  </a:ext>
                </a:extLst>
              </a:tr>
              <a:tr h="315496">
                <a:tc>
                  <a:txBody>
                    <a:bodyPr/>
                    <a:lstStyle/>
                    <a:p>
                      <a:pPr algn="just">
                        <a:lnSpc>
                          <a:spcPct val="150000"/>
                        </a:lnSpc>
                        <a:spcBef>
                          <a:spcPts val="600"/>
                        </a:spcBef>
                        <a:spcAft>
                          <a:spcPts val="600"/>
                        </a:spcAft>
                        <a:buNone/>
                      </a:pPr>
                      <a:r>
                        <a:rPr lang="en-IN" sz="1100" b="1" kern="100" dirty="0">
                          <a:effectLst/>
                        </a:rPr>
                        <a:t>Input 3</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ABCABCABCXYZXYZXYZABCABC</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670824161"/>
                  </a:ext>
                </a:extLst>
              </a:tr>
              <a:tr h="315496">
                <a:tc>
                  <a:txBody>
                    <a:bodyPr/>
                    <a:lstStyle/>
                    <a:p>
                      <a:pPr algn="just">
                        <a:lnSpc>
                          <a:spcPct val="150000"/>
                        </a:lnSpc>
                        <a:spcBef>
                          <a:spcPts val="600"/>
                        </a:spcBef>
                        <a:spcAft>
                          <a:spcPts val="600"/>
                        </a:spcAft>
                        <a:buNone/>
                      </a:pPr>
                      <a:r>
                        <a:rPr lang="en-IN" sz="1100" b="1" kern="100" dirty="0">
                          <a:effectLst/>
                        </a:rPr>
                        <a:t>Input 4</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a:effectLst/>
                        </a:rPr>
                        <a:t>HELLOHELLOHELLOHELLOHELLO</a:t>
                      </a:r>
                      <a:endParaRPr lang="en-IN" sz="1100" b="1" kern="10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4057599815"/>
                  </a:ext>
                </a:extLst>
              </a:tr>
              <a:tr h="315496">
                <a:tc>
                  <a:txBody>
                    <a:bodyPr/>
                    <a:lstStyle/>
                    <a:p>
                      <a:pPr algn="just">
                        <a:lnSpc>
                          <a:spcPct val="150000"/>
                        </a:lnSpc>
                        <a:spcBef>
                          <a:spcPts val="600"/>
                        </a:spcBef>
                        <a:spcAft>
                          <a:spcPts val="600"/>
                        </a:spcAft>
                        <a:buNone/>
                      </a:pPr>
                      <a:r>
                        <a:rPr lang="en-IN" sz="1100" b="1" kern="100" dirty="0">
                          <a:effectLst/>
                        </a:rPr>
                        <a:t>Input 5</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AAAAAAAAAAAAAAAAAAAAAAAAAAAAAA</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1550611223"/>
                  </a:ext>
                </a:extLst>
              </a:tr>
              <a:tr h="315496">
                <a:tc>
                  <a:txBody>
                    <a:bodyPr/>
                    <a:lstStyle/>
                    <a:p>
                      <a:pPr algn="just">
                        <a:lnSpc>
                          <a:spcPct val="150000"/>
                        </a:lnSpc>
                        <a:spcBef>
                          <a:spcPts val="600"/>
                        </a:spcBef>
                        <a:spcAft>
                          <a:spcPts val="600"/>
                        </a:spcAft>
                        <a:buNone/>
                      </a:pPr>
                      <a:r>
                        <a:rPr lang="en-IN" sz="1100" b="1" kern="100" dirty="0">
                          <a:effectLst/>
                        </a:rPr>
                        <a:t>Input 6</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ABABABABABABABABABABABABABAB</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1913806490"/>
                  </a:ext>
                </a:extLst>
              </a:tr>
              <a:tr h="315496">
                <a:tc>
                  <a:txBody>
                    <a:bodyPr/>
                    <a:lstStyle/>
                    <a:p>
                      <a:pPr algn="just">
                        <a:lnSpc>
                          <a:spcPct val="150000"/>
                        </a:lnSpc>
                        <a:spcBef>
                          <a:spcPts val="600"/>
                        </a:spcBef>
                        <a:spcAft>
                          <a:spcPts val="600"/>
                        </a:spcAft>
                        <a:buNone/>
                      </a:pPr>
                      <a:r>
                        <a:rPr lang="en-IN" sz="1100" b="1" kern="100" dirty="0">
                          <a:effectLst/>
                        </a:rPr>
                        <a:t>Input7</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tc>
                <a:tc>
                  <a:txBody>
                    <a:bodyPr/>
                    <a:lstStyle/>
                    <a:p>
                      <a:pPr algn="just">
                        <a:lnSpc>
                          <a:spcPct val="150000"/>
                        </a:lnSpc>
                        <a:spcBef>
                          <a:spcPts val="600"/>
                        </a:spcBef>
                        <a:spcAft>
                          <a:spcPts val="600"/>
                        </a:spcAft>
                        <a:buNone/>
                      </a:pPr>
                      <a:r>
                        <a:rPr lang="en-IN" sz="1100" b="1" kern="100" dirty="0">
                          <a:effectLst/>
                        </a:rPr>
                        <a:t>the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r>
                        <a:rPr lang="en-IN" sz="1100" b="1" kern="100" dirty="0">
                          <a:effectLst/>
                        </a:rPr>
                        <a:t> </a:t>
                      </a:r>
                      <a:r>
                        <a:rPr lang="en-IN" sz="1100" b="1" kern="100" dirty="0" err="1">
                          <a:effectLst/>
                        </a:rPr>
                        <a:t>the</a:t>
                      </a:r>
                      <a:endParaRPr lang="en-IN" sz="1100" b="1" kern="100" dirty="0">
                        <a:effectLst/>
                        <a:latin typeface="Calibri" panose="020F0502020204030204" pitchFamily="34" charset="0"/>
                        <a:ea typeface="Calibri" panose="020F0502020204030204" pitchFamily="34" charset="0"/>
                        <a:cs typeface="Latha" panose="020B0604020202020204" pitchFamily="34" charset="0"/>
                      </a:endParaRPr>
                    </a:p>
                  </a:txBody>
                  <a:tcPr marL="68580" marR="68580" marT="0" marB="0" anchor="ctr"/>
                </a:tc>
                <a:extLst>
                  <a:ext uri="{0D108BD9-81ED-4DB2-BD59-A6C34878D82A}">
                    <a16:rowId xmlns:a16="http://schemas.microsoft.com/office/drawing/2014/main" val="2720699152"/>
                  </a:ext>
                </a:extLst>
              </a:tr>
            </a:tbl>
          </a:graphicData>
        </a:graphic>
      </p:graphicFrame>
      <p:graphicFrame>
        <p:nvGraphicFramePr>
          <p:cNvPr id="6" name="Chart 5">
            <a:extLst>
              <a:ext uri="{FF2B5EF4-FFF2-40B4-BE49-F238E27FC236}">
                <a16:creationId xmlns:a16="http://schemas.microsoft.com/office/drawing/2014/main" id="{BA5E2469-8212-51BC-70E6-9E466A9C29A3}"/>
              </a:ext>
            </a:extLst>
          </p:cNvPr>
          <p:cNvGraphicFramePr/>
          <p:nvPr>
            <p:extLst>
              <p:ext uri="{D42A27DB-BD31-4B8C-83A1-F6EECF244321}">
                <p14:modId xmlns:p14="http://schemas.microsoft.com/office/powerpoint/2010/main" val="1903161506"/>
              </p:ext>
            </p:extLst>
          </p:nvPr>
        </p:nvGraphicFramePr>
        <p:xfrm>
          <a:off x="542748" y="413675"/>
          <a:ext cx="5553252" cy="30518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D1BCC871-8E77-3791-A410-A7160CAAB833}"/>
              </a:ext>
            </a:extLst>
          </p:cNvPr>
          <p:cNvGraphicFramePr/>
          <p:nvPr>
            <p:extLst>
              <p:ext uri="{D42A27DB-BD31-4B8C-83A1-F6EECF244321}">
                <p14:modId xmlns:p14="http://schemas.microsoft.com/office/powerpoint/2010/main" val="3238668695"/>
              </p:ext>
            </p:extLst>
          </p:nvPr>
        </p:nvGraphicFramePr>
        <p:xfrm>
          <a:off x="6295132" y="3548259"/>
          <a:ext cx="5896868" cy="303747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31843E2C-9055-8066-BD20-17135FAD7CA5}"/>
              </a:ext>
            </a:extLst>
          </p:cNvPr>
          <p:cNvSpPr txBox="1"/>
          <p:nvPr/>
        </p:nvSpPr>
        <p:spPr>
          <a:xfrm>
            <a:off x="8219327" y="626723"/>
            <a:ext cx="1828800" cy="338554"/>
          </a:xfrm>
          <a:prstGeom prst="rect">
            <a:avLst/>
          </a:prstGeom>
          <a:noFill/>
        </p:spPr>
        <p:txBody>
          <a:bodyPr wrap="square" rtlCol="0">
            <a:spAutoFit/>
          </a:bodyPr>
          <a:lstStyle/>
          <a:p>
            <a:r>
              <a:rPr lang="en-IN" sz="1600" b="1" dirty="0"/>
              <a:t>Input Samples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59DEC3A-8C68-92DD-9892-73C248DC6ED8}"/>
                  </a:ext>
                </a:extLst>
              </p:cNvPr>
              <p:cNvSpPr txBox="1"/>
              <p:nvPr/>
            </p:nvSpPr>
            <p:spPr>
              <a:xfrm>
                <a:off x="0" y="5010191"/>
                <a:ext cx="5912650" cy="5645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IN" b="1" i="0" smtClean="0">
                          <a:latin typeface="+mj-lt"/>
                        </a:rPr>
                        <m:t>Throughput</m:t>
                      </m:r>
                      <m:r>
                        <m:rPr>
                          <m:nor/>
                        </m:rPr>
                        <a:rPr lang="en-IN" b="1" i="0" smtClean="0">
                          <a:latin typeface="+mj-lt"/>
                        </a:rPr>
                        <m:t> =</m:t>
                      </m:r>
                      <m:f>
                        <m:fPr>
                          <m:ctrlPr>
                            <a:rPr lang="en-IN" b="1" i="1" smtClean="0">
                              <a:latin typeface="Cambria Math" panose="02040503050406030204" pitchFamily="18" charset="0"/>
                            </a:rPr>
                          </m:ctrlPr>
                        </m:fPr>
                        <m:num>
                          <m:r>
                            <m:rPr>
                              <m:nor/>
                            </m:rPr>
                            <a:rPr lang="en-IN" b="1" i="0" smtClean="0">
                              <a:latin typeface="+mj-lt"/>
                            </a:rPr>
                            <m:t>Total</m:t>
                          </m:r>
                          <m:r>
                            <m:rPr>
                              <m:nor/>
                            </m:rPr>
                            <a:rPr lang="en-IN" b="1" i="0" smtClean="0">
                              <a:latin typeface="+mj-lt"/>
                            </a:rPr>
                            <m:t> </m:t>
                          </m:r>
                          <m:r>
                            <m:rPr>
                              <m:nor/>
                            </m:rPr>
                            <a:rPr lang="en-IN" b="1" i="0" smtClean="0">
                              <a:latin typeface="+mj-lt"/>
                            </a:rPr>
                            <m:t>Input</m:t>
                          </m:r>
                          <m:r>
                            <m:rPr>
                              <m:nor/>
                            </m:rPr>
                            <a:rPr lang="en-IN" b="1" i="0" smtClean="0">
                              <a:latin typeface="+mj-lt"/>
                            </a:rPr>
                            <m:t> </m:t>
                          </m:r>
                          <m:r>
                            <m:rPr>
                              <m:nor/>
                            </m:rPr>
                            <a:rPr lang="en-IN" b="1" i="0" smtClean="0">
                              <a:latin typeface="+mj-lt"/>
                            </a:rPr>
                            <m:t>Bytes</m:t>
                          </m:r>
                        </m:num>
                        <m:den>
                          <m:r>
                            <m:rPr>
                              <m:nor/>
                            </m:rPr>
                            <a:rPr lang="en-IN" b="1" i="0" smtClean="0">
                              <a:latin typeface="+mj-lt"/>
                            </a:rPr>
                            <m:t>Total</m:t>
                          </m:r>
                          <m:r>
                            <m:rPr>
                              <m:nor/>
                            </m:rPr>
                            <a:rPr lang="en-IN" b="1" i="0" smtClean="0">
                              <a:latin typeface="+mj-lt"/>
                            </a:rPr>
                            <m:t> </m:t>
                          </m:r>
                          <m:r>
                            <m:rPr>
                              <m:nor/>
                            </m:rPr>
                            <a:rPr lang="en-IN" b="1" i="0" smtClean="0">
                              <a:latin typeface="+mj-lt"/>
                            </a:rPr>
                            <m:t>Processing</m:t>
                          </m:r>
                          <m:r>
                            <m:rPr>
                              <m:nor/>
                            </m:rPr>
                            <a:rPr lang="en-IN" b="1" i="0" smtClean="0">
                              <a:latin typeface="+mj-lt"/>
                            </a:rPr>
                            <m:t> </m:t>
                          </m:r>
                          <m:r>
                            <m:rPr>
                              <m:nor/>
                            </m:rPr>
                            <a:rPr lang="en-IN" b="1" i="0" smtClean="0">
                              <a:latin typeface="+mj-lt"/>
                            </a:rPr>
                            <m:t>Cycle</m:t>
                          </m:r>
                        </m:den>
                      </m:f>
                    </m:oMath>
                  </m:oMathPara>
                </a14:m>
                <a:endParaRPr lang="en-IN" b="1" dirty="0">
                  <a:latin typeface="+mj-lt"/>
                </a:endParaRPr>
              </a:p>
            </p:txBody>
          </p:sp>
        </mc:Choice>
        <mc:Fallback xmlns="">
          <p:sp>
            <p:nvSpPr>
              <p:cNvPr id="2" name="TextBox 1">
                <a:extLst>
                  <a:ext uri="{FF2B5EF4-FFF2-40B4-BE49-F238E27FC236}">
                    <a16:creationId xmlns:a16="http://schemas.microsoft.com/office/drawing/2014/main" id="{A59DEC3A-8C68-92DD-9892-73C248DC6ED8}"/>
                  </a:ext>
                </a:extLst>
              </p:cNvPr>
              <p:cNvSpPr txBox="1">
                <a:spLocks noRot="1" noChangeAspect="1" noMove="1" noResize="1" noEditPoints="1" noAdjustHandles="1" noChangeArrowheads="1" noChangeShapeType="1" noTextEdit="1"/>
              </p:cNvSpPr>
              <p:nvPr/>
            </p:nvSpPr>
            <p:spPr>
              <a:xfrm>
                <a:off x="0" y="5010191"/>
                <a:ext cx="5912650" cy="564578"/>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97F0E8-1FD9-9562-F231-5A7CB64247A3}"/>
                  </a:ext>
                </a:extLst>
              </p:cNvPr>
              <p:cNvSpPr txBox="1"/>
              <p:nvPr/>
            </p:nvSpPr>
            <p:spPr>
              <a:xfrm>
                <a:off x="1036105" y="4188260"/>
                <a:ext cx="5059895" cy="479362"/>
              </a:xfrm>
              <a:prstGeom prst="rect">
                <a:avLst/>
              </a:prstGeom>
              <a:noFill/>
            </p:spPr>
            <p:txBody>
              <a:bodyPr wrap="square" lIns="0" tIns="0" rIns="0" bIns="0" rtlCol="0">
                <a:spAutoFit/>
              </a:bodyPr>
              <a:lstStyle/>
              <a:p>
                <a14:m>
                  <m:oMath xmlns:m="http://schemas.openxmlformats.org/officeDocument/2006/math">
                    <m:r>
                      <m:rPr>
                        <m:nor/>
                      </m:rPr>
                      <a:rPr lang="it-IT" b="1" dirty="0" smtClean="0">
                        <a:latin typeface="+mj-lt"/>
                      </a:rPr>
                      <m:t>Compression</m:t>
                    </m:r>
                    <m:r>
                      <m:rPr>
                        <m:nor/>
                      </m:rPr>
                      <a:rPr lang="it-IT" b="1" dirty="0" smtClean="0">
                        <a:latin typeface="+mj-lt"/>
                      </a:rPr>
                      <m:t> </m:t>
                    </m:r>
                    <m:r>
                      <m:rPr>
                        <m:nor/>
                      </m:rPr>
                      <a:rPr lang="it-IT" b="1" dirty="0" smtClean="0">
                        <a:latin typeface="+mj-lt"/>
                      </a:rPr>
                      <m:t>Gain</m:t>
                    </m:r>
                    <m:r>
                      <m:rPr>
                        <m:nor/>
                      </m:rPr>
                      <a:rPr lang="it-IT" b="1" dirty="0" smtClean="0">
                        <a:latin typeface="+mj-lt"/>
                      </a:rPr>
                      <m:t> (%)=</m:t>
                    </m:r>
                    <m:f>
                      <m:fPr>
                        <m:ctrlPr>
                          <a:rPr lang="en-IN" b="1" i="1" smtClean="0">
                            <a:latin typeface="Cambria Math" panose="02040503050406030204" pitchFamily="18" charset="0"/>
                          </a:rPr>
                        </m:ctrlPr>
                      </m:fPr>
                      <m:num>
                        <m:r>
                          <m:rPr>
                            <m:nor/>
                          </m:rPr>
                          <a:rPr lang="it-IT" b="1" dirty="0">
                            <a:latin typeface="+mj-lt"/>
                          </a:rPr>
                          <m:t>Sorig</m:t>
                        </m:r>
                        <m:r>
                          <m:rPr>
                            <m:nor/>
                          </m:rPr>
                          <a:rPr lang="it-IT" b="1" dirty="0">
                            <a:latin typeface="+mj-lt"/>
                          </a:rPr>
                          <m:t>​−</m:t>
                        </m:r>
                        <m:r>
                          <m:rPr>
                            <m:nor/>
                          </m:rPr>
                          <a:rPr lang="it-IT" b="1" dirty="0">
                            <a:latin typeface="+mj-lt"/>
                          </a:rPr>
                          <m:t>Scomp</m:t>
                        </m:r>
                        <m:r>
                          <m:rPr>
                            <m:nor/>
                          </m:rPr>
                          <a:rPr lang="en-IN" b="1" i="0" dirty="0" smtClean="0">
                            <a:latin typeface="+mj-lt"/>
                          </a:rPr>
                          <m:t> </m:t>
                        </m:r>
                      </m:num>
                      <m:den>
                        <m:r>
                          <m:rPr>
                            <m:nor/>
                          </m:rPr>
                          <a:rPr lang="it-IT" b="1" dirty="0">
                            <a:latin typeface="+mj-lt"/>
                          </a:rPr>
                          <m:t>Sorig</m:t>
                        </m:r>
                        <m:r>
                          <m:rPr>
                            <m:nor/>
                          </m:rPr>
                          <a:rPr lang="it-IT" b="1" dirty="0">
                            <a:latin typeface="+mj-lt"/>
                          </a:rPr>
                          <m:t>​</m:t>
                        </m:r>
                      </m:den>
                    </m:f>
                  </m:oMath>
                </a14:m>
                <a:r>
                  <a:rPr lang="it-IT" b="1" dirty="0">
                    <a:latin typeface="+mj-lt"/>
                  </a:rPr>
                  <a:t> × 100</a:t>
                </a:r>
                <a:endParaRPr lang="en-IN" b="1" dirty="0">
                  <a:latin typeface="+mj-lt"/>
                </a:endParaRPr>
              </a:p>
            </p:txBody>
          </p:sp>
        </mc:Choice>
        <mc:Fallback xmlns="">
          <p:sp>
            <p:nvSpPr>
              <p:cNvPr id="11" name="TextBox 10">
                <a:extLst>
                  <a:ext uri="{FF2B5EF4-FFF2-40B4-BE49-F238E27FC236}">
                    <a16:creationId xmlns:a16="http://schemas.microsoft.com/office/drawing/2014/main" id="{F397F0E8-1FD9-9562-F231-5A7CB64247A3}"/>
                  </a:ext>
                </a:extLst>
              </p:cNvPr>
              <p:cNvSpPr txBox="1">
                <a:spLocks noRot="1" noChangeAspect="1" noMove="1" noResize="1" noEditPoints="1" noAdjustHandles="1" noChangeArrowheads="1" noChangeShapeType="1" noTextEdit="1"/>
              </p:cNvSpPr>
              <p:nvPr/>
            </p:nvSpPr>
            <p:spPr>
              <a:xfrm>
                <a:off x="1036105" y="4188260"/>
                <a:ext cx="5059895" cy="479362"/>
              </a:xfrm>
              <a:prstGeom prst="rect">
                <a:avLst/>
              </a:prstGeom>
              <a:blipFill>
                <a:blip r:embed="rId5"/>
                <a:stretch>
                  <a:fillRect b="-8861"/>
                </a:stretch>
              </a:blipFill>
            </p:spPr>
            <p:txBody>
              <a:bodyPr/>
              <a:lstStyle/>
              <a:p>
                <a:r>
                  <a:rPr lang="en-IN">
                    <a:noFill/>
                  </a:rPr>
                  <a:t> </a:t>
                </a:r>
              </a:p>
            </p:txBody>
          </p:sp>
        </mc:Fallback>
      </mc:AlternateContent>
    </p:spTree>
    <p:extLst>
      <p:ext uri="{BB962C8B-B14F-4D97-AF65-F5344CB8AC3E}">
        <p14:creationId xmlns:p14="http://schemas.microsoft.com/office/powerpoint/2010/main" val="3354352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3BD100-030E-AE85-9DC3-FCFF8557C8E8}"/>
              </a:ext>
            </a:extLst>
          </p:cNvPr>
          <p:cNvPicPr>
            <a:picLocks noChangeAspect="1"/>
          </p:cNvPicPr>
          <p:nvPr/>
        </p:nvPicPr>
        <p:blipFill>
          <a:blip r:embed="rId2"/>
          <a:srcRect t="1852" r="1720" b="3590"/>
          <a:stretch>
            <a:fillRect/>
          </a:stretch>
        </p:blipFill>
        <p:spPr>
          <a:xfrm>
            <a:off x="1569774" y="154113"/>
            <a:ext cx="8735206" cy="6431623"/>
          </a:xfrm>
          <a:prstGeom prst="rect">
            <a:avLst/>
          </a:prstGeom>
        </p:spPr>
      </p:pic>
    </p:spTree>
    <p:extLst>
      <p:ext uri="{BB962C8B-B14F-4D97-AF65-F5344CB8AC3E}">
        <p14:creationId xmlns:p14="http://schemas.microsoft.com/office/powerpoint/2010/main" val="1690764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5CC2A-2EB3-C9E6-E737-2E346401A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8B06E-16E3-5C84-636B-894DAEF3429E}"/>
              </a:ext>
            </a:extLst>
          </p:cNvPr>
          <p:cNvSpPr>
            <a:spLocks noGrp="1"/>
          </p:cNvSpPr>
          <p:nvPr>
            <p:ph type="title"/>
          </p:nvPr>
        </p:nvSpPr>
        <p:spPr>
          <a:xfrm>
            <a:off x="838200" y="73864"/>
            <a:ext cx="10515600" cy="1325563"/>
          </a:xfrm>
        </p:spPr>
        <p:txBody>
          <a:bodyPr/>
          <a:lstStyle/>
          <a:p>
            <a:pPr>
              <a:lnSpc>
                <a:spcPct val="150000"/>
              </a:lnSpc>
            </a:pPr>
            <a:r>
              <a:rPr lang="en-US" dirty="0">
                <a:latin typeface="Times New Roman" panose="02020603050405020304" pitchFamily="18"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902C155C-BC61-84F4-6225-6EB57BAFFA55}"/>
              </a:ext>
            </a:extLst>
          </p:cNvPr>
          <p:cNvSpPr/>
          <p:nvPr/>
        </p:nvSpPr>
        <p:spPr>
          <a:xfrm>
            <a:off x="111210" y="1197965"/>
            <a:ext cx="12080789" cy="76031"/>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
        <p:nvSpPr>
          <p:cNvPr id="5" name="TextBox 4">
            <a:extLst>
              <a:ext uri="{FF2B5EF4-FFF2-40B4-BE49-F238E27FC236}">
                <a16:creationId xmlns:a16="http://schemas.microsoft.com/office/drawing/2014/main" id="{43F6F4EF-B852-EB5D-C6D4-8114637D7AC6}"/>
              </a:ext>
            </a:extLst>
          </p:cNvPr>
          <p:cNvSpPr txBox="1"/>
          <p:nvPr/>
        </p:nvSpPr>
        <p:spPr>
          <a:xfrm>
            <a:off x="544530" y="1871510"/>
            <a:ext cx="11455685" cy="3354765"/>
          </a:xfrm>
          <a:prstGeom prst="rect">
            <a:avLst/>
          </a:prstGeom>
          <a:noFill/>
        </p:spPr>
        <p:txBody>
          <a:bodyPr wrap="square">
            <a:spAutoFit/>
          </a:bodyPr>
          <a:lstStyle/>
          <a:p>
            <a:pPr marL="342900" indent="-342900">
              <a:buFont typeface="Arial" panose="020B0604020202020204" pitchFamily="34" charset="0"/>
              <a:buChar char="•"/>
            </a:pPr>
            <a:r>
              <a:rPr lang="en-IN" sz="2000" b="1" dirty="0"/>
              <a:t>“Low-Overhead Compressibility Prediction for High-Performance Lossless Data Compression”</a:t>
            </a:r>
          </a:p>
          <a:p>
            <a:pPr marL="0" indent="0" algn="r">
              <a:buNone/>
            </a:pPr>
            <a:r>
              <a:rPr lang="en-IN" sz="1600" dirty="0"/>
              <a:t>YOUNGIL KIM 1, SEUNGDO CHOI 1, DAEYONG LEE 1, JOONYONG JEONG 1,JAEWOOK KWAK 1, JUNGKEOL LEE 1, GYEONGYONG LEE 1, </a:t>
            </a:r>
            <a:r>
              <a:rPr lang="en-US" sz="1600" dirty="0"/>
              <a:t>AND YONG HO SONG1, 2, (Member, IEEE)</a:t>
            </a:r>
          </a:p>
          <a:p>
            <a:pPr marL="0" indent="0" algn="r">
              <a:buNone/>
            </a:pPr>
            <a:endParaRPr lang="en-US" sz="2000" b="1" dirty="0">
              <a:cs typeface="Times New Roman" panose="02020603050405020304" pitchFamily="18" charset="0"/>
            </a:endParaRPr>
          </a:p>
          <a:p>
            <a:pPr marL="342900" indent="-342900" algn="just">
              <a:buFont typeface="Arial" panose="020B0604020202020204" pitchFamily="34" charset="0"/>
              <a:buChar char="•"/>
            </a:pPr>
            <a:r>
              <a:rPr lang="en-IN" sz="2000" b="1" dirty="0"/>
              <a:t>“Accurate Blind Lempel-Ziv-77 Parameter </a:t>
            </a:r>
            <a:r>
              <a:rPr lang="it-IT" sz="2000" b="1" dirty="0"/>
              <a:t>Estimation via 1-D to 2-D Data Conversion </a:t>
            </a:r>
            <a:r>
              <a:rPr lang="en-IN" sz="2000" b="1" dirty="0"/>
              <a:t>Over Convolutional Neural Network”</a:t>
            </a:r>
          </a:p>
          <a:p>
            <a:pPr algn="r"/>
            <a:r>
              <a:rPr lang="en-IN" sz="1600" dirty="0"/>
              <a:t>BEOM KWON 1, HYEWON SONG 2, AND SANGHOON LEE 2, (Senior Member, IEEE)</a:t>
            </a:r>
          </a:p>
          <a:p>
            <a:pPr algn="r"/>
            <a:endParaRPr lang="en-IN" sz="1600" dirty="0"/>
          </a:p>
          <a:p>
            <a:pPr marL="285750" lvl="0" indent="-285750">
              <a:buFont typeface="Arial" panose="020B0604020202020204" pitchFamily="34" charset="0"/>
              <a:buChar char="•"/>
            </a:pPr>
            <a:r>
              <a:rPr lang="en-US" sz="2000" b="1" dirty="0">
                <a:cs typeface="Times New Roman" panose="02020603050405020304" pitchFamily="18" charset="0"/>
              </a:rPr>
              <a:t>“FPGA-Based Lossless Data Compression using</a:t>
            </a:r>
            <a:r>
              <a:rPr lang="en-IN" sz="2000" b="1" dirty="0">
                <a:cs typeface="Times New Roman" panose="02020603050405020304" pitchFamily="18" charset="0"/>
              </a:rPr>
              <a:t> Huffman and LZ77 Algorithms”</a:t>
            </a:r>
          </a:p>
          <a:p>
            <a:pPr lvl="0" algn="r"/>
            <a:r>
              <a:rPr lang="en-IN" sz="1600" dirty="0">
                <a:cs typeface="Times New Roman" panose="02020603050405020304" pitchFamily="18" charset="0"/>
              </a:rPr>
              <a:t>Suzanne Rigler., William Bishop., and Andrew Kennings</a:t>
            </a:r>
          </a:p>
          <a:p>
            <a:r>
              <a:rPr lang="en-IN" sz="1600" dirty="0"/>
              <a:t> </a:t>
            </a:r>
          </a:p>
          <a:p>
            <a:pPr marL="0" indent="0">
              <a:buNone/>
            </a:pPr>
            <a:endParaRPr lang="en-IN" sz="1600" b="1" dirty="0">
              <a:cs typeface="Times New Roman" panose="02020603050405020304" pitchFamily="18" charset="0"/>
            </a:endParaRPr>
          </a:p>
        </p:txBody>
      </p:sp>
    </p:spTree>
    <p:extLst>
      <p:ext uri="{BB962C8B-B14F-4D97-AF65-F5344CB8AC3E}">
        <p14:creationId xmlns:p14="http://schemas.microsoft.com/office/powerpoint/2010/main" val="2864474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C77C-7E60-A7C3-974C-0351FB11BC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C50D7-8F9F-5B6D-D85D-ED0E2398D9DE}"/>
              </a:ext>
            </a:extLst>
          </p:cNvPr>
          <p:cNvSpPr>
            <a:spLocks noGrp="1"/>
          </p:cNvSpPr>
          <p:nvPr>
            <p:ph type="title"/>
          </p:nvPr>
        </p:nvSpPr>
        <p:spPr>
          <a:xfrm>
            <a:off x="838201" y="1173199"/>
            <a:ext cx="10515600" cy="1325563"/>
          </a:xfrm>
        </p:spPr>
        <p:txBody>
          <a:bodyPr/>
          <a:lstStyle/>
          <a:p>
            <a:pPr>
              <a:lnSpc>
                <a:spcPct val="150000"/>
              </a:lnSpc>
            </a:pPr>
            <a:r>
              <a:rPr lang="en-US" dirty="0">
                <a:latin typeface="Times New Roman" panose="02020603050405020304" pitchFamily="18" charset="0"/>
                <a:cs typeface="Times New Roman" panose="02020603050405020304" pitchFamily="18" charset="0"/>
              </a:rPr>
              <a:t>Thank you! </a:t>
            </a:r>
          </a:p>
        </p:txBody>
      </p:sp>
      <p:sp>
        <p:nvSpPr>
          <p:cNvPr id="4" name="Rectangle 3">
            <a:extLst>
              <a:ext uri="{FF2B5EF4-FFF2-40B4-BE49-F238E27FC236}">
                <a16:creationId xmlns:a16="http://schemas.microsoft.com/office/drawing/2014/main" id="{B7065CC7-BC98-8992-3096-7521BD2A4982}"/>
              </a:ext>
            </a:extLst>
          </p:cNvPr>
          <p:cNvSpPr/>
          <p:nvPr/>
        </p:nvSpPr>
        <p:spPr>
          <a:xfrm>
            <a:off x="111211" y="2297300"/>
            <a:ext cx="12080789" cy="151252"/>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75000"/>
                </a:schemeClr>
              </a:solidFill>
            </a:endParaRPr>
          </a:p>
        </p:txBody>
      </p:sp>
    </p:spTree>
    <p:extLst>
      <p:ext uri="{BB962C8B-B14F-4D97-AF65-F5344CB8AC3E}">
        <p14:creationId xmlns:p14="http://schemas.microsoft.com/office/powerpoint/2010/main" val="3578025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3501</TotalTime>
  <Words>2148</Words>
  <Application>Microsoft Office PowerPoint</Application>
  <PresentationFormat>Widescreen</PresentationFormat>
  <Paragraphs>282</Paragraphs>
  <Slides>23</Slides>
  <Notes>2</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Cambria Math</vt:lpstr>
      <vt:lpstr>Courier New</vt:lpstr>
      <vt:lpstr>fkGrotesk</vt:lpstr>
      <vt:lpstr>Times New Roman</vt:lpstr>
      <vt:lpstr>Office Theme</vt:lpstr>
      <vt:lpstr>Project MASET 697J FPGA Implementation of LZ77 Lossless Data Compressor </vt:lpstr>
      <vt:lpstr>Contents</vt:lpstr>
      <vt:lpstr>Objective</vt:lpstr>
      <vt:lpstr>Literature Review</vt:lpstr>
      <vt:lpstr>PowerPoint Presentation</vt:lpstr>
      <vt:lpstr>Design of FPGA-based LZ77Compressor with Runtime Configurable Compression Ratio and Throughput</vt:lpstr>
      <vt:lpstr>Implementation</vt:lpstr>
      <vt:lpstr>Methodology – LZ77 Algorithm</vt:lpstr>
      <vt:lpstr>PowerPoint Presentation</vt:lpstr>
      <vt:lpstr>LZ77 Algorithm – Data Path</vt:lpstr>
      <vt:lpstr>PowerPoint Presentation</vt:lpstr>
      <vt:lpstr>PowerPoint Presentation</vt:lpstr>
      <vt:lpstr>PowerPoint Presentation</vt:lpstr>
      <vt:lpstr>LZ77 Algorithm – Controller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RBL project Presentation on   Project Title</dc:title>
  <dc:creator>Biswajit Barman</dc:creator>
  <cp:lastModifiedBy>Arthy A</cp:lastModifiedBy>
  <cp:revision>42</cp:revision>
  <dcterms:created xsi:type="dcterms:W3CDTF">2023-08-31T11:57:28Z</dcterms:created>
  <dcterms:modified xsi:type="dcterms:W3CDTF">2026-01-21T15:10:28Z</dcterms:modified>
</cp:coreProperties>
</file>